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456" r:id="rId3"/>
    <p:sldId id="457" r:id="rId4"/>
    <p:sldId id="419" r:id="rId5"/>
    <p:sldId id="421" r:id="rId6"/>
    <p:sldId id="345" r:id="rId7"/>
    <p:sldId id="422" r:id="rId8"/>
    <p:sldId id="424" r:id="rId9"/>
    <p:sldId id="423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951" autoAdjust="0"/>
  </p:normalViewPr>
  <p:slideViewPr>
    <p:cSldViewPr>
      <p:cViewPr varScale="1">
        <p:scale>
          <a:sx n="100" d="100"/>
          <a:sy n="100" d="100"/>
        </p:scale>
        <p:origin x="420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3F24C8-8586-45AC-B95D-0AA261F72EA7}" type="datetimeFigureOut">
              <a:rPr lang="en-GB" smtClean="0"/>
              <a:t>03/04/2025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CE7514-4B2C-4C2A-8095-19DC27A885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0663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>
            <a:extLst>
              <a:ext uri="{FF2B5EF4-FFF2-40B4-BE49-F238E27FC236}">
                <a16:creationId xmlns:a16="http://schemas.microsoft.com/office/drawing/2014/main" id="{4D8F9928-8869-45F7-BA42-5A488A3E1B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85554BC-4E9D-46F3-8CDA-F7DF99B87F74}" type="slidenum">
              <a:rPr lang="en-US" altLang="en-US" smtClean="0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D40412E3-E257-462F-AEEC-27F4A0E78C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1D67F792-BDD9-43A7-AAE4-80F3F09C95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08998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>
            <a:extLst>
              <a:ext uri="{FF2B5EF4-FFF2-40B4-BE49-F238E27FC236}">
                <a16:creationId xmlns:a16="http://schemas.microsoft.com/office/drawing/2014/main" id="{7DB04AC4-9FA4-4B81-A2E4-1E6AFD4EE9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1B5580B-1301-4E06-BEA8-C7B0DE30B0A7}" type="slidenum">
              <a:rPr lang="en-US" altLang="en-US" smtClean="0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3F57FD02-2058-4DC0-B613-AD0294133A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D6CEFB33-83BB-47AD-B7F4-C32DEBB57E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>
            <a:extLst>
              <a:ext uri="{FF2B5EF4-FFF2-40B4-BE49-F238E27FC236}">
                <a16:creationId xmlns:a16="http://schemas.microsoft.com/office/drawing/2014/main" id="{9A34A2FC-C15D-4B2F-88BE-311A926B19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B7BE9DC-710B-4B65-BCCD-8107D53BC9BE}" type="slidenum">
              <a:rPr lang="en-US" altLang="en-US" smtClean="0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BE8EDEDD-05A4-4AB1-9D21-B8FD2F4A55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5221A250-5591-4686-8986-7D36991F88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>
            <a:extLst>
              <a:ext uri="{FF2B5EF4-FFF2-40B4-BE49-F238E27FC236}">
                <a16:creationId xmlns:a16="http://schemas.microsoft.com/office/drawing/2014/main" id="{89ACFED5-FEE9-4052-81A1-4F4ACC8A40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6F1106F-71C9-45B5-A785-D6B08923631A}" type="slidenum">
              <a:rPr lang="en-US" altLang="en-US" smtClean="0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FB4DEBF9-633C-48A9-B2B4-116F70BEBD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250F3D6F-9310-4C8C-BB98-4172C6D545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B1A60390-627A-4274-847E-47EB601902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97320C0-8E4B-4B1E-A830-FE5886CA5D53}" type="slidenum">
              <a:rPr lang="en-US" altLang="en-US" smtClean="0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EA2463C4-B80E-4B8C-85AE-C8401A286E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4309114D-ADAD-450C-8806-B9C750BE98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2233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>
            <a:extLst>
              <a:ext uri="{FF2B5EF4-FFF2-40B4-BE49-F238E27FC236}">
                <a16:creationId xmlns:a16="http://schemas.microsoft.com/office/drawing/2014/main" id="{4C2245F4-0687-48BF-BF76-797F8BC2AC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799B002-221E-4ACE-82C8-ADA61FD05C07}" type="slidenum">
              <a:rPr lang="en-US" altLang="en-US" smtClean="0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2946022D-15EE-4829-ABB0-2302B5FB73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833E1FE6-F684-4288-B04E-1699B856B6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005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1076" y="0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7999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24928" y="3681983"/>
            <a:ext cx="4763770" cy="3176905"/>
          </a:xfrm>
          <a:custGeom>
            <a:avLst/>
            <a:gdLst/>
            <a:ahLst/>
            <a:cxnLst/>
            <a:rect l="l" t="t" r="r" b="b"/>
            <a:pathLst>
              <a:path w="4763770" h="3176904">
                <a:moveTo>
                  <a:pt x="4763516" y="0"/>
                </a:moveTo>
                <a:lnTo>
                  <a:pt x="0" y="3176586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2100" y="0"/>
            <a:ext cx="3007360" cy="6858000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6852" y="0"/>
                </a:moveTo>
                <a:lnTo>
                  <a:pt x="2042484" y="0"/>
                </a:lnTo>
                <a:lnTo>
                  <a:pt x="0" y="6858000"/>
                </a:lnTo>
                <a:lnTo>
                  <a:pt x="3006852" y="6858000"/>
                </a:lnTo>
                <a:lnTo>
                  <a:pt x="3006852" y="0"/>
                </a:lnTo>
                <a:close/>
              </a:path>
            </a:pathLst>
          </a:custGeom>
          <a:solidFill>
            <a:srgbClr val="90C225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4335" y="0"/>
            <a:ext cx="2588260" cy="6858000"/>
          </a:xfrm>
          <a:custGeom>
            <a:avLst/>
            <a:gdLst/>
            <a:ahLst/>
            <a:cxnLst/>
            <a:rect l="l" t="t" r="r" b="b"/>
            <a:pathLst>
              <a:path w="2588259" h="6858000">
                <a:moveTo>
                  <a:pt x="2587665" y="0"/>
                </a:moveTo>
                <a:lnTo>
                  <a:pt x="0" y="0"/>
                </a:lnTo>
                <a:lnTo>
                  <a:pt x="1208191" y="6857999"/>
                </a:lnTo>
                <a:lnTo>
                  <a:pt x="2587665" y="6857999"/>
                </a:lnTo>
                <a:lnTo>
                  <a:pt x="2587665" y="0"/>
                </a:lnTo>
                <a:close/>
              </a:path>
            </a:pathLst>
          </a:custGeom>
          <a:solidFill>
            <a:srgbClr val="90C22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2164" y="3048000"/>
            <a:ext cx="3260090" cy="3810000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835" y="0"/>
                </a:moveTo>
                <a:lnTo>
                  <a:pt x="0" y="3809999"/>
                </a:lnTo>
                <a:lnTo>
                  <a:pt x="3259835" y="3809999"/>
                </a:lnTo>
                <a:lnTo>
                  <a:pt x="3259835" y="0"/>
                </a:lnTo>
                <a:close/>
              </a:path>
            </a:pathLst>
          </a:custGeom>
          <a:solidFill>
            <a:srgbClr val="539F20">
              <a:alpha val="7215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790" y="0"/>
            <a:ext cx="2851785" cy="6858000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161" y="0"/>
                </a:moveTo>
                <a:lnTo>
                  <a:pt x="0" y="0"/>
                </a:lnTo>
                <a:lnTo>
                  <a:pt x="2467621" y="6858000"/>
                </a:lnTo>
                <a:lnTo>
                  <a:pt x="2851161" y="6858000"/>
                </a:lnTo>
                <a:lnTo>
                  <a:pt x="2851161" y="0"/>
                </a:lnTo>
                <a:close/>
              </a:path>
            </a:pathLst>
          </a:custGeom>
          <a:solidFill>
            <a:srgbClr val="3E781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940748" y="0"/>
            <a:ext cx="1248410" cy="6858000"/>
          </a:xfrm>
          <a:custGeom>
            <a:avLst/>
            <a:gdLst/>
            <a:ahLst/>
            <a:cxnLst/>
            <a:rect l="l" t="t" r="r" b="b"/>
            <a:pathLst>
              <a:path w="1248409" h="6858000">
                <a:moveTo>
                  <a:pt x="1248203" y="0"/>
                </a:moveTo>
                <a:lnTo>
                  <a:pt x="0" y="0"/>
                </a:lnTo>
                <a:lnTo>
                  <a:pt x="1107741" y="6858000"/>
                </a:lnTo>
                <a:lnTo>
                  <a:pt x="1248203" y="6858000"/>
                </a:lnTo>
                <a:lnTo>
                  <a:pt x="1248203" y="0"/>
                </a:lnTo>
                <a:close/>
              </a:path>
            </a:pathLst>
          </a:custGeom>
          <a:solidFill>
            <a:srgbClr val="90C225">
              <a:alpha val="6509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372343" y="3590544"/>
            <a:ext cx="1816735" cy="3267710"/>
          </a:xfrm>
          <a:custGeom>
            <a:avLst/>
            <a:gdLst/>
            <a:ahLst/>
            <a:cxnLst/>
            <a:rect l="l" t="t" r="r" b="b"/>
            <a:pathLst>
              <a:path w="1816734" h="3267709">
                <a:moveTo>
                  <a:pt x="1816607" y="0"/>
                </a:moveTo>
                <a:lnTo>
                  <a:pt x="0" y="3267455"/>
                </a:lnTo>
                <a:lnTo>
                  <a:pt x="1816607" y="3267455"/>
                </a:lnTo>
                <a:lnTo>
                  <a:pt x="1816607" y="0"/>
                </a:lnTo>
                <a:close/>
              </a:path>
            </a:pathLst>
          </a:custGeom>
          <a:solidFill>
            <a:srgbClr val="90C225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43529" y="2833616"/>
            <a:ext cx="6352540" cy="15455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0404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40404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1076" y="0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7999"/>
                </a:lnTo>
              </a:path>
            </a:pathLst>
          </a:custGeom>
          <a:ln w="9144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24928" y="3681983"/>
            <a:ext cx="4763770" cy="3176905"/>
          </a:xfrm>
          <a:custGeom>
            <a:avLst/>
            <a:gdLst/>
            <a:ahLst/>
            <a:cxnLst/>
            <a:rect l="l" t="t" r="r" b="b"/>
            <a:pathLst>
              <a:path w="4763770" h="3176904">
                <a:moveTo>
                  <a:pt x="4763516" y="0"/>
                </a:moveTo>
                <a:lnTo>
                  <a:pt x="0" y="3176586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2100" y="0"/>
            <a:ext cx="3007360" cy="6858000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6852" y="0"/>
                </a:moveTo>
                <a:lnTo>
                  <a:pt x="2042484" y="0"/>
                </a:lnTo>
                <a:lnTo>
                  <a:pt x="0" y="6858000"/>
                </a:lnTo>
                <a:lnTo>
                  <a:pt x="3006852" y="6858000"/>
                </a:lnTo>
                <a:lnTo>
                  <a:pt x="3006852" y="0"/>
                </a:lnTo>
                <a:close/>
              </a:path>
            </a:pathLst>
          </a:custGeom>
          <a:solidFill>
            <a:srgbClr val="90C225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4335" y="0"/>
            <a:ext cx="2588260" cy="6858000"/>
          </a:xfrm>
          <a:custGeom>
            <a:avLst/>
            <a:gdLst/>
            <a:ahLst/>
            <a:cxnLst/>
            <a:rect l="l" t="t" r="r" b="b"/>
            <a:pathLst>
              <a:path w="2588259" h="6858000">
                <a:moveTo>
                  <a:pt x="2587665" y="0"/>
                </a:moveTo>
                <a:lnTo>
                  <a:pt x="0" y="0"/>
                </a:lnTo>
                <a:lnTo>
                  <a:pt x="1208191" y="6857999"/>
                </a:lnTo>
                <a:lnTo>
                  <a:pt x="2587665" y="6857999"/>
                </a:lnTo>
                <a:lnTo>
                  <a:pt x="2587665" y="0"/>
                </a:lnTo>
                <a:close/>
              </a:path>
            </a:pathLst>
          </a:custGeom>
          <a:solidFill>
            <a:srgbClr val="90C22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2164" y="3048000"/>
            <a:ext cx="3260090" cy="3810000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835" y="0"/>
                </a:moveTo>
                <a:lnTo>
                  <a:pt x="0" y="3809999"/>
                </a:lnTo>
                <a:lnTo>
                  <a:pt x="3259835" y="3809999"/>
                </a:lnTo>
                <a:lnTo>
                  <a:pt x="3259835" y="0"/>
                </a:lnTo>
                <a:close/>
              </a:path>
            </a:pathLst>
          </a:custGeom>
          <a:solidFill>
            <a:srgbClr val="539F20">
              <a:alpha val="7215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790" y="0"/>
            <a:ext cx="2851785" cy="6858000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161" y="0"/>
                </a:moveTo>
                <a:lnTo>
                  <a:pt x="0" y="0"/>
                </a:lnTo>
                <a:lnTo>
                  <a:pt x="2467621" y="6858000"/>
                </a:lnTo>
                <a:lnTo>
                  <a:pt x="2851161" y="6858000"/>
                </a:lnTo>
                <a:lnTo>
                  <a:pt x="2851161" y="0"/>
                </a:lnTo>
                <a:close/>
              </a:path>
            </a:pathLst>
          </a:custGeom>
          <a:solidFill>
            <a:srgbClr val="3E781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8123" y="0"/>
            <a:ext cx="1290955" cy="6858000"/>
          </a:xfrm>
          <a:custGeom>
            <a:avLst/>
            <a:gdLst/>
            <a:ahLst/>
            <a:cxnLst/>
            <a:rect l="l" t="t" r="r" b="b"/>
            <a:pathLst>
              <a:path w="1290954" h="6858000">
                <a:moveTo>
                  <a:pt x="1290828" y="0"/>
                </a:moveTo>
                <a:lnTo>
                  <a:pt x="1018959" y="0"/>
                </a:lnTo>
                <a:lnTo>
                  <a:pt x="0" y="6858000"/>
                </a:lnTo>
                <a:lnTo>
                  <a:pt x="1290828" y="6858000"/>
                </a:lnTo>
                <a:lnTo>
                  <a:pt x="1290828" y="0"/>
                </a:lnTo>
                <a:close/>
              </a:path>
            </a:pathLst>
          </a:custGeom>
          <a:solidFill>
            <a:srgbClr val="C0E374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40748" y="0"/>
            <a:ext cx="1248410" cy="6858000"/>
          </a:xfrm>
          <a:custGeom>
            <a:avLst/>
            <a:gdLst/>
            <a:ahLst/>
            <a:cxnLst/>
            <a:rect l="l" t="t" r="r" b="b"/>
            <a:pathLst>
              <a:path w="1248409" h="6858000">
                <a:moveTo>
                  <a:pt x="1248203" y="0"/>
                </a:moveTo>
                <a:lnTo>
                  <a:pt x="0" y="0"/>
                </a:lnTo>
                <a:lnTo>
                  <a:pt x="1107741" y="6858000"/>
                </a:lnTo>
                <a:lnTo>
                  <a:pt x="1248203" y="6858000"/>
                </a:lnTo>
                <a:lnTo>
                  <a:pt x="1248203" y="0"/>
                </a:lnTo>
                <a:close/>
              </a:path>
            </a:pathLst>
          </a:custGeom>
          <a:solidFill>
            <a:srgbClr val="90C225">
              <a:alpha val="6509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2343" y="3590544"/>
            <a:ext cx="1816735" cy="3267710"/>
          </a:xfrm>
          <a:custGeom>
            <a:avLst/>
            <a:gdLst/>
            <a:ahLst/>
            <a:cxnLst/>
            <a:rect l="l" t="t" r="r" b="b"/>
            <a:pathLst>
              <a:path w="1816734" h="3267709">
                <a:moveTo>
                  <a:pt x="1816607" y="0"/>
                </a:moveTo>
                <a:lnTo>
                  <a:pt x="0" y="3267455"/>
                </a:lnTo>
                <a:lnTo>
                  <a:pt x="1816607" y="3267455"/>
                </a:lnTo>
                <a:lnTo>
                  <a:pt x="1816607" y="0"/>
                </a:lnTo>
                <a:close/>
              </a:path>
            </a:pathLst>
          </a:custGeom>
          <a:solidFill>
            <a:srgbClr val="90C225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4012691"/>
            <a:ext cx="448309" cy="2845435"/>
          </a:xfrm>
          <a:custGeom>
            <a:avLst/>
            <a:gdLst/>
            <a:ahLst/>
            <a:cxnLst/>
            <a:rect l="l" t="t" r="r" b="b"/>
            <a:pathLst>
              <a:path w="448309" h="2845434">
                <a:moveTo>
                  <a:pt x="0" y="0"/>
                </a:moveTo>
                <a:lnTo>
                  <a:pt x="0" y="2845307"/>
                </a:lnTo>
                <a:lnTo>
                  <a:pt x="448056" y="2845307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6310" y="629158"/>
            <a:ext cx="4613910" cy="5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6310" y="2186686"/>
            <a:ext cx="8348980" cy="3455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0404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219200" y="838200"/>
            <a:ext cx="8153400" cy="3749103"/>
          </a:xfrm>
          <a:prstGeom prst="rect">
            <a:avLst/>
          </a:prstGeom>
        </p:spPr>
        <p:txBody>
          <a:bodyPr vert="horz" wrap="square" lIns="0" tIns="3295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2595"/>
              </a:spcBef>
            </a:pPr>
            <a:r>
              <a:rPr lang="en-US" sz="6000" dirty="0"/>
              <a:t>Operating Systems</a:t>
            </a:r>
            <a:br>
              <a:rPr lang="en-US" sz="6000" dirty="0"/>
            </a:br>
            <a:r>
              <a:rPr lang="en-US" sz="6000" dirty="0"/>
              <a:t>Week 5 Lecture/Discussion 5</a:t>
            </a:r>
            <a:br>
              <a:rPr lang="en-US" sz="6000" dirty="0"/>
            </a:br>
            <a:r>
              <a:rPr lang="en-US" sz="2400" dirty="0"/>
              <a:t>Junaid Abdul Wahid</a:t>
            </a:r>
            <a:br>
              <a:rPr lang="en-US" sz="1800" dirty="0">
                <a:solidFill>
                  <a:srgbClr val="FFFFFF"/>
                </a:solidFill>
              </a:rPr>
            </a:br>
            <a:r>
              <a:rPr sz="1800" dirty="0" err="1">
                <a:solidFill>
                  <a:srgbClr val="FFFFFF"/>
                </a:solidFill>
              </a:rPr>
              <a:t>cture</a:t>
            </a:r>
            <a:r>
              <a:rPr sz="1800" spc="-25" dirty="0">
                <a:solidFill>
                  <a:srgbClr val="FFFFFF"/>
                </a:solidFill>
              </a:rPr>
              <a:t> </a:t>
            </a:r>
            <a:r>
              <a:rPr sz="1800" dirty="0">
                <a:solidFill>
                  <a:srgbClr val="FFFFFF"/>
                </a:solidFill>
              </a:rPr>
              <a:t>0</a:t>
            </a:r>
            <a:r>
              <a:rPr sz="1800" spc="-45" dirty="0">
                <a:solidFill>
                  <a:srgbClr val="FFFFFF"/>
                </a:solidFill>
              </a:rPr>
              <a:t> </a:t>
            </a:r>
            <a:r>
              <a:rPr sz="1800" dirty="0">
                <a:solidFill>
                  <a:srgbClr val="FFFFFF"/>
                </a:solidFill>
              </a:rPr>
              <a:t>-</a:t>
            </a:r>
            <a:r>
              <a:rPr sz="1800" spc="-35" dirty="0">
                <a:solidFill>
                  <a:srgbClr val="FFFFFF"/>
                </a:solidFill>
              </a:rPr>
              <a:t> </a:t>
            </a:r>
            <a:r>
              <a:rPr sz="1800" spc="-10" dirty="0">
                <a:solidFill>
                  <a:srgbClr val="FFFFFF"/>
                </a:solidFill>
              </a:rPr>
              <a:t>Introduction</a:t>
            </a:r>
            <a:endParaRPr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2"/>
          <p:cNvSpPr>
            <a:spLocks noGrp="1"/>
          </p:cNvSpPr>
          <p:nvPr>
            <p:ph idx="1"/>
          </p:nvPr>
        </p:nvSpPr>
        <p:spPr>
          <a:xfrm>
            <a:off x="914400" y="1447800"/>
            <a:ext cx="8497303" cy="1226811"/>
          </a:xfrm>
        </p:spPr>
        <p:txBody>
          <a:bodyPr vert="horz" wrap="square" lIns="90236" tIns="45117" rIns="90236" bIns="45117" anchor="t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  <a:p>
            <a:pPr marL="742950" lvl="1" indent="-285750" eaLnBrk="1" hangingPunct="1">
              <a:lnSpc>
                <a:spcPct val="9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2400" dirty="0"/>
              <a:t>Scheduling Algorithms (FCFS- SJF)</a:t>
            </a:r>
          </a:p>
          <a:p>
            <a:pPr lvl="1" eaLnBrk="1" hangingPunct="1">
              <a:lnSpc>
                <a:spcPct val="90000"/>
              </a:lnSpc>
              <a:buClr>
                <a:schemeClr val="accent3">
                  <a:lumMod val="75000"/>
                </a:schemeClr>
              </a:buClr>
            </a:pPr>
            <a:endParaRPr lang="en-US" altLang="zh-CN" sz="2000" dirty="0">
              <a:solidFill>
                <a:srgbClr val="404040"/>
              </a:solidFill>
              <a:latin typeface="Trebuchet MS"/>
            </a:endParaRPr>
          </a:p>
          <a:p>
            <a:pPr lvl="1" eaLnBrk="1" hangingPunct="1">
              <a:lnSpc>
                <a:spcPct val="90000"/>
              </a:lnSpc>
              <a:buClr>
                <a:schemeClr val="accent3">
                  <a:lumMod val="75000"/>
                </a:schemeClr>
              </a:buClr>
            </a:pPr>
            <a:endParaRPr lang="en-US" altLang="zh-CN" dirty="0"/>
          </a:p>
        </p:txBody>
      </p:sp>
      <p:sp>
        <p:nvSpPr>
          <p:cNvPr id="10246" name="Rectangle 6"/>
          <p:cNvSpPr>
            <a:spLocks noGrp="1"/>
          </p:cNvSpPr>
          <p:nvPr>
            <p:ph type="title"/>
          </p:nvPr>
        </p:nvSpPr>
        <p:spPr>
          <a:xfrm>
            <a:off x="838200" y="602675"/>
            <a:ext cx="3733800" cy="583558"/>
          </a:xfrm>
        </p:spPr>
        <p:txBody>
          <a:bodyPr vert="horz" wrap="square" lIns="90236" tIns="45117" rIns="90236" bIns="45117" anchor="b">
            <a:spAutoFit/>
          </a:bodyPr>
          <a:lstStyle/>
          <a:p>
            <a:pPr eaLnBrk="1" hangingPunct="1"/>
            <a:r>
              <a:rPr lang="en-US" altLang="zh-CN" sz="3200" b="1" dirty="0">
                <a:solidFill>
                  <a:schemeClr val="hlink"/>
                </a:solidFill>
                <a:ea typeface="+mn-ea"/>
                <a:sym typeface="+mn-ea"/>
              </a:rPr>
              <a:t>Previous </a:t>
            </a:r>
            <a:endParaRPr lang="en-US" altLang="zh-CN" sz="3200" b="1" dirty="0">
              <a:solidFill>
                <a:schemeClr val="hlink"/>
              </a:solidFill>
              <a:ea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F036D288-E138-414E-9E47-BF1DDE6761E2}"/>
              </a:ext>
            </a:extLst>
          </p:cNvPr>
          <p:cNvSpPr txBox="1">
            <a:spLocks/>
          </p:cNvSpPr>
          <p:nvPr/>
        </p:nvSpPr>
        <p:spPr>
          <a:xfrm>
            <a:off x="381000" y="685800"/>
            <a:ext cx="3733800" cy="583558"/>
          </a:xfrm>
          <a:prstGeom prst="rect">
            <a:avLst/>
          </a:prstGeom>
        </p:spPr>
        <p:txBody>
          <a:bodyPr vert="horz" wrap="square" lIns="90236" tIns="45117" rIns="90236" bIns="45117" anchor="b">
            <a:spAutoFit/>
          </a:bodyPr>
          <a:lstStyle>
            <a:lvl1pPr>
              <a:defRPr sz="3600" b="0" i="0">
                <a:solidFill>
                  <a:srgbClr val="90C225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r>
              <a:rPr lang="en-US" altLang="zh-CN" sz="3200" b="1" dirty="0">
                <a:solidFill>
                  <a:schemeClr val="hlink"/>
                </a:solidFill>
                <a:ea typeface="+mn-ea"/>
                <a:sym typeface="+mn-ea"/>
              </a:rPr>
              <a:t>Today Discussion </a:t>
            </a:r>
            <a:endParaRPr lang="en-US" altLang="zh-CN" sz="3200" b="1" dirty="0">
              <a:solidFill>
                <a:schemeClr val="hlink"/>
              </a:solidFill>
              <a:ea typeface="+mn-ea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5A1288C-1186-4F7F-AF82-BA874AA40ED1}"/>
              </a:ext>
            </a:extLst>
          </p:cNvPr>
          <p:cNvSpPr txBox="1">
            <a:spLocks/>
          </p:cNvSpPr>
          <p:nvPr/>
        </p:nvSpPr>
        <p:spPr>
          <a:xfrm>
            <a:off x="533400" y="1447800"/>
            <a:ext cx="8497303" cy="1633076"/>
          </a:xfrm>
          <a:prstGeom prst="rect">
            <a:avLst/>
          </a:prstGeom>
        </p:spPr>
        <p:txBody>
          <a:bodyPr vert="horz" wrap="square" lIns="90236" tIns="45117" rIns="90236" bIns="45117" anchor="t">
            <a:spAutoFit/>
          </a:bodyPr>
          <a:lstStyle>
            <a:lvl1pPr marL="0">
              <a:defRPr sz="2000" b="0" i="0">
                <a:solidFill>
                  <a:srgbClr val="404040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  <a:p>
            <a:pPr marL="742950" lvl="1" indent="-285750">
              <a:lnSpc>
                <a:spcPct val="20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404040"/>
                </a:solidFill>
                <a:latin typeface="Trebuchet MS"/>
              </a:rPr>
              <a:t>Continue Scheduling Algorithms</a:t>
            </a:r>
          </a:p>
          <a:p>
            <a:pPr lvl="1">
              <a:lnSpc>
                <a:spcPct val="90000"/>
              </a:lnSpc>
              <a:buClr>
                <a:schemeClr val="accent3">
                  <a:lumMod val="75000"/>
                </a:schemeClr>
              </a:buClr>
            </a:pPr>
            <a:endParaRPr lang="en-US" altLang="zh-CN" sz="2000" dirty="0">
              <a:solidFill>
                <a:srgbClr val="404040"/>
              </a:solidFill>
              <a:latin typeface="Trebuchet MS"/>
            </a:endParaRPr>
          </a:p>
          <a:p>
            <a:pPr lvl="1">
              <a:lnSpc>
                <a:spcPct val="90000"/>
              </a:lnSpc>
              <a:buClr>
                <a:schemeClr val="accent3">
                  <a:lumMod val="75000"/>
                </a:schemeClr>
              </a:buClr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57364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A3AF8A99-5400-4B88-80AE-AE6C448E05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1" y="152400"/>
            <a:ext cx="5791200" cy="553998"/>
          </a:xfrm>
        </p:spPr>
        <p:txBody>
          <a:bodyPr/>
          <a:lstStyle/>
          <a:p>
            <a:pPr eaLnBrk="1" hangingPunct="1"/>
            <a:r>
              <a:rPr lang="en-US" altLang="en-US" dirty="0"/>
              <a:t>Example of SJF</a:t>
            </a:r>
          </a:p>
        </p:txBody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00593719-A5A4-4326-8529-37EC324927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143000"/>
            <a:ext cx="7788048" cy="3508653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US" altLang="en-US" sz="1600" dirty="0"/>
              <a:t>		</a:t>
            </a:r>
            <a:r>
              <a:rPr lang="en-US" altLang="en-US" u="sng" dirty="0"/>
              <a:t>Process</a:t>
            </a:r>
            <a:r>
              <a:rPr lang="en-US" altLang="en-US" dirty="0"/>
              <a:t>	</a:t>
            </a:r>
            <a:r>
              <a:rPr lang="en-US" altLang="en-US" u="sng" dirty="0"/>
              <a:t>Burst Time	</a:t>
            </a:r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dirty="0"/>
              <a:t>	6</a:t>
            </a:r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dirty="0"/>
              <a:t> 	8</a:t>
            </a:r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	 </a:t>
            </a:r>
            <a:r>
              <a:rPr lang="en-US" altLang="en-US" dirty="0"/>
              <a:t>7</a:t>
            </a:r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US" altLang="en-US" i="1" baseline="-25000" dirty="0"/>
              <a:t>                                                                            	 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4	 </a:t>
            </a:r>
            <a:r>
              <a:rPr lang="en-US" altLang="en-US" dirty="0"/>
              <a:t>3</a:t>
            </a:r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i="1" baseline="-250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US" altLang="en-US" dirty="0"/>
              <a:t>SJF scheduling chart</a:t>
            </a:r>
            <a:br>
              <a:rPr lang="en-US" altLang="en-US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endParaRPr lang="en-US" altLang="en-US" sz="16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US" altLang="en-US" dirty="0"/>
              <a:t>Average waiting time = (3 + 16 + 9 + 0) / 4 = 7</a:t>
            </a: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DADC6AF8-4597-4452-983E-FCBE4FEE15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352800"/>
            <a:ext cx="6093760" cy="827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0220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7A3CFFB8-E2A9-4251-9DDA-A9BF289B29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49492" cy="553998"/>
          </a:xfrm>
        </p:spPr>
        <p:txBody>
          <a:bodyPr/>
          <a:lstStyle/>
          <a:p>
            <a:pPr eaLnBrk="1" hangingPunct="1"/>
            <a:r>
              <a:rPr lang="en-US" altLang="en-US" dirty="0"/>
              <a:t>Determining Length of Next CPU Burst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8340EA5D-E641-4F83-8451-8011ACC73F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933839"/>
            <a:ext cx="7681167" cy="3970318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cs typeface="ＭＳ Ｐゴシック" charset="-128"/>
              </a:rPr>
              <a:t>Can only estimate the length – should be similar to the previous one</a:t>
            </a:r>
          </a:p>
          <a:p>
            <a:pPr lvl="1">
              <a:defRPr/>
            </a:pPr>
            <a:r>
              <a:rPr lang="en-US" altLang="en-US" dirty="0"/>
              <a:t>Then pick process with shortest predicted next CPU burst</a:t>
            </a:r>
            <a:endParaRPr lang="en-US" altLang="en-US" dirty="0">
              <a:cs typeface="ＭＳ Ｐゴシック" charset="-128"/>
            </a:endParaRPr>
          </a:p>
          <a:p>
            <a:pPr>
              <a:defRPr/>
            </a:pPr>
            <a:r>
              <a:rPr lang="en-US" altLang="en-US" dirty="0">
                <a:cs typeface="ＭＳ Ｐゴシック" charset="-128"/>
              </a:rPr>
              <a:t>Can be done by using the length of previous CPU bursts, using exponential averaging</a:t>
            </a:r>
          </a:p>
          <a:p>
            <a:pPr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defRPr/>
            </a:pPr>
            <a:r>
              <a:rPr lang="en-US" altLang="en-US" dirty="0">
                <a:cs typeface="ＭＳ Ｐゴシック" charset="-128"/>
              </a:rPr>
              <a:t>Commonly, </a:t>
            </a:r>
            <a:r>
              <a:rPr lang="en-US" altLang="en-US" dirty="0">
                <a:latin typeface="Lucida Grande" pitchFamily="-84" charset="0"/>
                <a:cs typeface="ＭＳ Ｐゴシック" charset="-128"/>
              </a:rPr>
              <a:t>α </a:t>
            </a:r>
            <a:r>
              <a:rPr lang="en-US" altLang="en-US" dirty="0">
                <a:cs typeface="ＭＳ Ｐゴシック" charset="-128"/>
              </a:rPr>
              <a:t>set to ½</a:t>
            </a:r>
          </a:p>
        </p:txBody>
      </p:sp>
      <p:pic>
        <p:nvPicPr>
          <p:cNvPr id="31748" name="Picture 1">
            <a:extLst>
              <a:ext uri="{FF2B5EF4-FFF2-40B4-BE49-F238E27FC236}">
                <a16:creationId xmlns:a16="http://schemas.microsoft.com/office/drawing/2014/main" id="{E328DB97-6C8D-4434-AF77-5C40A02A28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3822090"/>
            <a:ext cx="2451100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427B0884-5EC4-48E6-847A-70815D91C3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2955" y="2389698"/>
            <a:ext cx="4457700" cy="14965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3ABB015E-7AD3-4A84-AE93-94E9C1B95C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3837" y="152400"/>
            <a:ext cx="8223250" cy="400110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Prediction of the Length of the Next CPU Burst</a:t>
            </a:r>
          </a:p>
        </p:txBody>
      </p:sp>
      <p:pic>
        <p:nvPicPr>
          <p:cNvPr id="33794" name="Picture 2">
            <a:extLst>
              <a:ext uri="{FF2B5EF4-FFF2-40B4-BE49-F238E27FC236}">
                <a16:creationId xmlns:a16="http://schemas.microsoft.com/office/drawing/2014/main" id="{13C6E507-3240-4702-A49A-38E2AFA029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199" y="1066800"/>
            <a:ext cx="5470525" cy="396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D9F41D91-5CCD-4C10-BD4B-8757760950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7451725" cy="553998"/>
          </a:xfrm>
        </p:spPr>
        <p:txBody>
          <a:bodyPr/>
          <a:lstStyle/>
          <a:p>
            <a:pPr eaLnBrk="1" hangingPunct="1"/>
            <a:r>
              <a:rPr lang="en-US" altLang="en-US" dirty="0"/>
              <a:t>Examples of Exponential Averaging</a:t>
            </a: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D651A984-67C5-468C-8F88-230FFA867B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219200"/>
            <a:ext cx="7834083" cy="3886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 =0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</a:t>
            </a:r>
            <a:r>
              <a:rPr lang="en-US" altLang="en-US" baseline="-25000" dirty="0">
                <a:sym typeface="Symbol" panose="05050102010706020507" pitchFamily="18" charset="2"/>
              </a:rPr>
              <a:t>n+1</a:t>
            </a:r>
            <a:r>
              <a:rPr lang="en-US" altLang="en-US" dirty="0">
                <a:sym typeface="Symbol" panose="05050102010706020507" pitchFamily="18" charset="2"/>
              </a:rPr>
              <a:t> = </a:t>
            </a:r>
            <a:r>
              <a:rPr lang="en-US" altLang="en-US" baseline="-25000" dirty="0">
                <a:sym typeface="Symbol" panose="05050102010706020507" pitchFamily="18" charset="2"/>
              </a:rPr>
              <a:t>n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Recent history does not count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 =1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 </a:t>
            </a:r>
            <a:r>
              <a:rPr lang="en-US" altLang="en-US" baseline="-25000" dirty="0">
                <a:sym typeface="Symbol" panose="05050102010706020507" pitchFamily="18" charset="2"/>
              </a:rPr>
              <a:t>n+1</a:t>
            </a:r>
            <a:r>
              <a:rPr lang="en-US" altLang="en-US" dirty="0">
                <a:sym typeface="Symbol" panose="05050102010706020507" pitchFamily="18" charset="2"/>
              </a:rPr>
              <a:t> =  </a:t>
            </a:r>
            <a:r>
              <a:rPr lang="en-US" altLang="en-US" i="1" dirty="0" err="1">
                <a:sym typeface="Symbol" panose="05050102010706020507" pitchFamily="18" charset="2"/>
              </a:rPr>
              <a:t>t</a:t>
            </a:r>
            <a:r>
              <a:rPr lang="en-US" altLang="en-US" baseline="-25000" dirty="0" err="1">
                <a:sym typeface="Symbol" panose="05050102010706020507" pitchFamily="18" charset="2"/>
              </a:rPr>
              <a:t>n</a:t>
            </a:r>
            <a:endParaRPr lang="en-US" altLang="en-US" baseline="-250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Only the actual last CPU burst counts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If we expand the formula, we get:</a:t>
            </a:r>
          </a:p>
          <a:p>
            <a:pPr lvl="2"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en-US" dirty="0">
                <a:sym typeface="Symbol" panose="05050102010706020507" pitchFamily="18" charset="2"/>
              </a:rPr>
              <a:t></a:t>
            </a:r>
            <a:r>
              <a:rPr lang="en-US" altLang="en-US" i="1" baseline="-25000" dirty="0">
                <a:sym typeface="Symbol" panose="05050102010706020507" pitchFamily="18" charset="2"/>
              </a:rPr>
              <a:t>n</a:t>
            </a:r>
            <a:r>
              <a:rPr lang="en-US" altLang="en-US" baseline="-25000" dirty="0">
                <a:sym typeface="Symbol" panose="05050102010706020507" pitchFamily="18" charset="2"/>
              </a:rPr>
              <a:t>+1</a:t>
            </a:r>
            <a:r>
              <a:rPr lang="en-US" altLang="en-US" dirty="0">
                <a:sym typeface="Symbol" panose="05050102010706020507" pitchFamily="18" charset="2"/>
              </a:rPr>
              <a:t> =  </a:t>
            </a:r>
            <a:r>
              <a:rPr lang="en-US" altLang="en-US" dirty="0" err="1"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dirty="0">
                <a:sym typeface="Symbol" panose="05050102010706020507" pitchFamily="18" charset="2"/>
              </a:rPr>
              <a:t>+(1</a:t>
            </a:r>
            <a:r>
              <a:rPr lang="en-US" altLang="en-US" i="1" dirty="0">
                <a:sym typeface="Symbol" panose="05050102010706020507" pitchFamily="18" charset="2"/>
              </a:rPr>
              <a:t> - </a:t>
            </a:r>
            <a:r>
              <a:rPr lang="en-US" altLang="en-US" dirty="0">
                <a:sym typeface="Symbol" panose="05050102010706020507" pitchFamily="18" charset="2"/>
              </a:rPr>
              <a:t></a:t>
            </a:r>
            <a:r>
              <a:rPr lang="en-US" altLang="en-US" i="1" dirty="0">
                <a:sym typeface="Symbol" panose="05050102010706020507" pitchFamily="18" charset="2"/>
              </a:rPr>
              <a:t>)</a:t>
            </a:r>
            <a:r>
              <a:rPr lang="en-US" altLang="en-US" dirty="0">
                <a:sym typeface="Symbol" panose="05050102010706020507" pitchFamily="18" charset="2"/>
              </a:rPr>
              <a:t> </a:t>
            </a:r>
            <a:r>
              <a:rPr lang="en-US" altLang="en-US" i="1" dirty="0" err="1"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baseline="-25000" dirty="0">
                <a:sym typeface="Symbol" panose="05050102010706020507" pitchFamily="18" charset="2"/>
              </a:rPr>
              <a:t>-1</a:t>
            </a:r>
            <a:r>
              <a:rPr lang="en-US" altLang="en-US" i="1" baseline="-25000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+ …</a:t>
            </a:r>
          </a:p>
          <a:p>
            <a:pPr lvl="2"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en-US" dirty="0">
                <a:sym typeface="Symbol" panose="05050102010706020507" pitchFamily="18" charset="2"/>
              </a:rPr>
              <a:t>            </a:t>
            </a:r>
            <a:r>
              <a:rPr lang="en-US" altLang="en-US" i="1" dirty="0">
                <a:sym typeface="Symbol" panose="05050102010706020507" pitchFamily="18" charset="2"/>
              </a:rPr>
              <a:t>+(</a:t>
            </a:r>
            <a:r>
              <a:rPr lang="en-US" altLang="en-US" dirty="0">
                <a:sym typeface="Symbol" panose="05050102010706020507" pitchFamily="18" charset="2"/>
              </a:rPr>
              <a:t>1 -  </a:t>
            </a:r>
            <a:r>
              <a:rPr lang="en-US" altLang="en-US" i="1" dirty="0">
                <a:sym typeface="Symbol" panose="05050102010706020507" pitchFamily="18" charset="2"/>
              </a:rPr>
              <a:t>)</a:t>
            </a:r>
            <a:r>
              <a:rPr lang="en-US" altLang="en-US" i="1" baseline="30000" dirty="0">
                <a:sym typeface="Symbol" panose="05050102010706020507" pitchFamily="18" charset="2"/>
              </a:rPr>
              <a:t>j</a:t>
            </a:r>
            <a:r>
              <a:rPr lang="en-US" altLang="en-US" baseline="30000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 </a:t>
            </a:r>
            <a:r>
              <a:rPr lang="en-US" altLang="en-US" i="1" dirty="0" err="1"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baseline="-25000" dirty="0">
                <a:sym typeface="Symbol" panose="05050102010706020507" pitchFamily="18" charset="2"/>
              </a:rPr>
              <a:t>-</a:t>
            </a:r>
            <a:r>
              <a:rPr lang="en-US" altLang="en-US" i="1" baseline="-25000" dirty="0">
                <a:sym typeface="Symbol" panose="05050102010706020507" pitchFamily="18" charset="2"/>
              </a:rPr>
              <a:t>j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+ …</a:t>
            </a:r>
          </a:p>
          <a:p>
            <a:pPr lvl="2"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en-US" dirty="0">
                <a:sym typeface="Symbol" panose="05050102010706020507" pitchFamily="18" charset="2"/>
              </a:rPr>
              <a:t>            </a:t>
            </a:r>
            <a:r>
              <a:rPr lang="en-US" altLang="en-US" i="1" dirty="0">
                <a:sym typeface="Symbol" panose="05050102010706020507" pitchFamily="18" charset="2"/>
              </a:rPr>
              <a:t>+(</a:t>
            </a:r>
            <a:r>
              <a:rPr lang="en-US" altLang="en-US" dirty="0">
                <a:sym typeface="Symbol" panose="05050102010706020507" pitchFamily="18" charset="2"/>
              </a:rPr>
              <a:t>1 -  </a:t>
            </a:r>
            <a:r>
              <a:rPr lang="en-US" altLang="en-US" i="1" dirty="0">
                <a:sym typeface="Symbol" panose="05050102010706020507" pitchFamily="18" charset="2"/>
              </a:rPr>
              <a:t>)</a:t>
            </a:r>
            <a:r>
              <a:rPr lang="en-US" altLang="en-US" i="1" baseline="30000" dirty="0">
                <a:sym typeface="Symbol" panose="05050102010706020507" pitchFamily="18" charset="2"/>
              </a:rPr>
              <a:t>n</a:t>
            </a:r>
            <a:r>
              <a:rPr lang="en-US" altLang="en-US" baseline="30000" dirty="0">
                <a:sym typeface="Symbol" panose="05050102010706020507" pitchFamily="18" charset="2"/>
              </a:rPr>
              <a:t> +1 </a:t>
            </a:r>
            <a:r>
              <a:rPr lang="en-US" altLang="en-US" dirty="0">
                <a:sym typeface="Symbol" panose="05050102010706020507" pitchFamily="18" charset="2"/>
              </a:rPr>
              <a:t></a:t>
            </a:r>
            <a:r>
              <a:rPr lang="en-US" altLang="en-US" baseline="-25000" dirty="0">
                <a:sym typeface="Symbol" panose="05050102010706020507" pitchFamily="18" charset="2"/>
              </a:rPr>
              <a:t>0</a:t>
            </a:r>
            <a:br>
              <a:rPr lang="en-US" altLang="en-US" baseline="-25000" dirty="0">
                <a:sym typeface="Symbol" panose="05050102010706020507" pitchFamily="18" charset="2"/>
              </a:rPr>
            </a:br>
            <a:endParaRPr lang="en-US" altLang="en-US" baseline="-25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Since both  and (1 - ) are less than or equal to 1, each successor predecessor  term has less weight than its predecessor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75370DA6-23EE-4245-8D59-2BE3CA1120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5755" y="152400"/>
            <a:ext cx="6817046" cy="430887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Shortest Remaining Time First Scheduling</a:t>
            </a:r>
          </a:p>
        </p:txBody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823814F7-CEBB-4A55-80A1-4EA7BB1EEA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95400" y="1600200"/>
            <a:ext cx="7696200" cy="2971800"/>
          </a:xfrm>
        </p:spPr>
        <p:txBody>
          <a:bodyPr/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en-US" sz="2400" dirty="0"/>
              <a:t>Preemptive version of SJN</a:t>
            </a:r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en-US" sz="2400" dirty="0"/>
              <a:t>Whenever a new process arrives in the ready queue, the decision on which process to schedule next is redone using the SJN algorithm.</a:t>
            </a:r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en-US" sz="2400" dirty="0"/>
              <a:t>Is SRT more “optimal” than SJN in terms of the minimum average waiting time for a given set of processes?</a:t>
            </a:r>
          </a:p>
          <a:p>
            <a:endParaRPr lang="en-US" altLang="en-US" dirty="0"/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52641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E841C6C2-8CFF-4FDC-A9E1-6B260CB171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152400"/>
            <a:ext cx="7594600" cy="461665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Example of Shortest-remaining-time-first</a:t>
            </a:r>
          </a:p>
        </p:txBody>
      </p:sp>
      <p:sp>
        <p:nvSpPr>
          <p:cNvPr id="19459" name="Rectangle 36">
            <a:extLst>
              <a:ext uri="{FF2B5EF4-FFF2-40B4-BE49-F238E27FC236}">
                <a16:creationId xmlns:a16="http://schemas.microsoft.com/office/drawing/2014/main" id="{F6B280F4-20CD-4AA5-887B-A75AC06E0F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5757" y="762000"/>
            <a:ext cx="8895443" cy="5027017"/>
          </a:xfrm>
        </p:spPr>
        <p:txBody>
          <a:bodyPr/>
          <a:lstStyle/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Now we add the concepts of varying arrival times and preemption to the analysis</a:t>
            </a: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		               </a:t>
            </a:r>
            <a:r>
              <a:rPr lang="en-US" altLang="en-US" u="sng" dirty="0">
                <a:cs typeface="ＭＳ Ｐゴシック" charset="-128"/>
              </a:rPr>
              <a:t>Process</a:t>
            </a:r>
            <a:r>
              <a:rPr lang="en-US" altLang="en-US" u="sng" dirty="0">
                <a:solidFill>
                  <a:schemeClr val="bg1"/>
                </a:solidFill>
                <a:cs typeface="ＭＳ Ｐゴシック" charset="-128"/>
              </a:rPr>
              <a:t>      i </a:t>
            </a:r>
            <a:r>
              <a:rPr lang="en-US" altLang="en-US" i="1" u="sng" dirty="0">
                <a:cs typeface="ＭＳ Ｐゴシック" charset="-128"/>
              </a:rPr>
              <a:t>Arrival </a:t>
            </a:r>
            <a:r>
              <a:rPr lang="en-US" altLang="en-US" u="sng" dirty="0">
                <a:cs typeface="ＭＳ Ｐゴシック" charset="-128"/>
              </a:rPr>
              <a:t>Time</a:t>
            </a:r>
            <a:r>
              <a:rPr lang="en-US" altLang="en-US" u="sng" dirty="0">
                <a:solidFill>
                  <a:schemeClr val="bg1"/>
                </a:solidFill>
                <a:cs typeface="ＭＳ Ｐゴシック" charset="-128"/>
              </a:rPr>
              <a:t>T</a:t>
            </a:r>
            <a:r>
              <a:rPr lang="en-US" altLang="en-US">
                <a:cs typeface="ＭＳ Ｐゴシック" charset="-128"/>
              </a:rPr>
              <a:t>	   </a:t>
            </a:r>
            <a:r>
              <a:rPr lang="en-US" altLang="en-US" u="sng">
                <a:cs typeface="ＭＳ Ｐゴシック" charset="-128"/>
              </a:rPr>
              <a:t>Burst </a:t>
            </a:r>
            <a:r>
              <a:rPr lang="en-US" altLang="en-US" u="sng" dirty="0">
                <a:cs typeface="ＭＳ Ｐゴシック" charset="-128"/>
              </a:rPr>
              <a:t>Time</a:t>
            </a:r>
            <a:endParaRPr lang="en-US" altLang="en-US" dirty="0">
              <a:cs typeface="ＭＳ Ｐゴシック" charset="-128"/>
            </a:endParaRP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		 </a:t>
            </a:r>
            <a:r>
              <a:rPr lang="en-US" altLang="en-US" i="1" dirty="0">
                <a:cs typeface="ＭＳ Ｐゴシック" charset="-128"/>
              </a:rPr>
              <a:t>P</a:t>
            </a:r>
            <a:r>
              <a:rPr lang="en-US" altLang="en-US" i="1" baseline="-25000" dirty="0">
                <a:cs typeface="ＭＳ Ｐゴシック" charset="-128"/>
              </a:rPr>
              <a:t>1</a:t>
            </a:r>
            <a:r>
              <a:rPr lang="en-US" altLang="en-US" dirty="0">
                <a:cs typeface="ＭＳ Ｐゴシック" charset="-128"/>
              </a:rPr>
              <a:t>	</a:t>
            </a:r>
            <a:r>
              <a:rPr lang="en-US" altLang="en-US" dirty="0">
                <a:solidFill>
                  <a:srgbClr val="000000"/>
                </a:solidFill>
                <a:cs typeface="ＭＳ Ｐゴシック" charset="-128"/>
              </a:rPr>
              <a:t>0</a:t>
            </a:r>
            <a:r>
              <a:rPr lang="en-US" altLang="en-US" dirty="0">
                <a:cs typeface="ＭＳ Ｐゴシック" charset="-128"/>
              </a:rPr>
              <a:t>			8</a:t>
            </a: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		 </a:t>
            </a:r>
            <a:r>
              <a:rPr lang="en-US" altLang="en-US" i="1" dirty="0">
                <a:cs typeface="ＭＳ Ｐゴシック" charset="-128"/>
              </a:rPr>
              <a:t>P</a:t>
            </a:r>
            <a:r>
              <a:rPr lang="en-US" altLang="en-US" i="1" baseline="-25000" dirty="0">
                <a:cs typeface="ＭＳ Ｐゴシック" charset="-128"/>
              </a:rPr>
              <a:t>2 	</a:t>
            </a:r>
            <a:r>
              <a:rPr lang="en-US" altLang="en-US" dirty="0">
                <a:solidFill>
                  <a:srgbClr val="000000"/>
                </a:solidFill>
                <a:cs typeface="ＭＳ Ｐゴシック" charset="-128"/>
              </a:rPr>
              <a:t>1</a:t>
            </a:r>
            <a:r>
              <a:rPr lang="en-US" altLang="en-US" dirty="0">
                <a:cs typeface="ＭＳ Ｐゴシック" charset="-128"/>
              </a:rPr>
              <a:t>			4</a:t>
            </a: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		 </a:t>
            </a:r>
            <a:r>
              <a:rPr lang="en-US" altLang="en-US" i="1" dirty="0">
                <a:cs typeface="ＭＳ Ｐゴシック" charset="-128"/>
              </a:rPr>
              <a:t>P</a:t>
            </a:r>
            <a:r>
              <a:rPr lang="en-US" altLang="en-US" i="1" baseline="-25000" dirty="0">
                <a:cs typeface="ＭＳ Ｐゴシック" charset="-128"/>
              </a:rPr>
              <a:t>3</a:t>
            </a:r>
            <a:r>
              <a:rPr lang="en-US" altLang="en-US" dirty="0">
                <a:cs typeface="ＭＳ Ｐゴシック" charset="-128"/>
              </a:rPr>
              <a:t>	</a:t>
            </a:r>
            <a:r>
              <a:rPr lang="en-US" altLang="en-US" dirty="0">
                <a:solidFill>
                  <a:srgbClr val="000000"/>
                </a:solidFill>
                <a:cs typeface="ＭＳ Ｐゴシック" charset="-128"/>
              </a:rPr>
              <a:t>2</a:t>
            </a:r>
            <a:r>
              <a:rPr lang="en-US" altLang="en-US" dirty="0">
                <a:cs typeface="ＭＳ Ｐゴシック" charset="-128"/>
              </a:rPr>
              <a:t>			9</a:t>
            </a: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		 </a:t>
            </a:r>
            <a:r>
              <a:rPr lang="en-US" altLang="en-US" i="1" dirty="0">
                <a:cs typeface="ＭＳ Ｐゴシック" charset="-128"/>
              </a:rPr>
              <a:t>P</a:t>
            </a:r>
            <a:r>
              <a:rPr lang="en-US" altLang="en-US" i="1" baseline="-25000" dirty="0">
                <a:cs typeface="ＭＳ Ｐゴシック" charset="-128"/>
              </a:rPr>
              <a:t>4</a:t>
            </a:r>
            <a:r>
              <a:rPr lang="en-US" altLang="en-US" dirty="0">
                <a:cs typeface="ＭＳ Ｐゴシック" charset="-128"/>
              </a:rPr>
              <a:t>	</a:t>
            </a:r>
            <a:r>
              <a:rPr lang="en-US" altLang="en-US" dirty="0">
                <a:solidFill>
                  <a:srgbClr val="000000"/>
                </a:solidFill>
                <a:cs typeface="ＭＳ Ｐゴシック" charset="-128"/>
              </a:rPr>
              <a:t>3</a:t>
            </a:r>
            <a:r>
              <a:rPr lang="en-US" altLang="en-US" dirty="0">
                <a:cs typeface="ＭＳ Ｐゴシック" charset="-128"/>
              </a:rPr>
              <a:t>			5</a:t>
            </a: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i="1" dirty="0">
              <a:cs typeface="ＭＳ Ｐゴシック" charset="-128"/>
            </a:endParaRP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i="1" dirty="0">
                <a:cs typeface="ＭＳ Ｐゴシック" charset="-128"/>
              </a:rPr>
              <a:t>Preemptive </a:t>
            </a:r>
            <a:r>
              <a:rPr lang="en-US" altLang="en-US" dirty="0">
                <a:cs typeface="ＭＳ Ｐゴシック" charset="-128"/>
              </a:rPr>
              <a:t>SJF Gantt Chart</a:t>
            </a: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Average waiting time = [(10-1)+(1-1)+(17-2)+(5-3)]/4 = 26/4 = 6.5</a:t>
            </a: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i="1" baseline="-25000" dirty="0">
              <a:cs typeface="ＭＳ Ｐゴシック" charset="-128"/>
            </a:endParaRP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i="1" baseline="-25000" dirty="0">
              <a:cs typeface="ＭＳ Ｐゴシック" charset="-128"/>
            </a:endParaRPr>
          </a:p>
        </p:txBody>
      </p:sp>
      <p:pic>
        <p:nvPicPr>
          <p:cNvPr id="37891" name="Picture 1">
            <a:extLst>
              <a:ext uri="{FF2B5EF4-FFF2-40B4-BE49-F238E27FC236}">
                <a16:creationId xmlns:a16="http://schemas.microsoft.com/office/drawing/2014/main" id="{100802A9-2833-4519-B21E-A1B2D0AF97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962400"/>
            <a:ext cx="6535737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183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99C93B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1000</TotalTime>
  <Words>420</Words>
  <Application>Microsoft Office PowerPoint</Application>
  <PresentationFormat>Widescreen</PresentationFormat>
  <Paragraphs>67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Lucida Grande</vt:lpstr>
      <vt:lpstr>Monotype Sorts</vt:lpstr>
      <vt:lpstr>Calibri</vt:lpstr>
      <vt:lpstr>Times New Roman</vt:lpstr>
      <vt:lpstr>Trebuchet MS</vt:lpstr>
      <vt:lpstr>Webdings</vt:lpstr>
      <vt:lpstr>Wingdings</vt:lpstr>
      <vt:lpstr>Office Theme</vt:lpstr>
      <vt:lpstr>Operating Systems Week 5 Lecture/Discussion 5 Junaid Abdul Wahid cture 0 - Introduction</vt:lpstr>
      <vt:lpstr>Previous </vt:lpstr>
      <vt:lpstr>PowerPoint Presentation</vt:lpstr>
      <vt:lpstr>Example of SJF</vt:lpstr>
      <vt:lpstr>Determining Length of Next CPU Burst</vt:lpstr>
      <vt:lpstr>Prediction of the Length of the Next CPU Burst</vt:lpstr>
      <vt:lpstr>Examples of Exponential Averaging</vt:lpstr>
      <vt:lpstr>Shortest Remaining Time First Scheduling</vt:lpstr>
      <vt:lpstr>Example of Shortest-remaining-time-first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Requirements Engineering</dc:title>
  <dc:creator>Wanru Gao</dc:creator>
  <cp:lastModifiedBy>Junaid Abdul Wahid</cp:lastModifiedBy>
  <cp:revision>80</cp:revision>
  <dcterms:created xsi:type="dcterms:W3CDTF">2025-02-16T03:39:39Z</dcterms:created>
  <dcterms:modified xsi:type="dcterms:W3CDTF">2025-04-03T07:24:13Z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2023-09-18T00:00:00Z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2025-02-16T00:00:00Z</vt:filetime>
  </property>
  <property fmtid="{D5CDD505-2E9C-101B-9397-08002B2CF9AE}" pid="5" name="Producer">
    <vt:lpwstr>Microsoft® PowerPoint® 2019</vt:lpwstr>
  </property>
</Properties>
</file>