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  <p:sldId id="266" r:id="rId9"/>
    <p:sldId id="267" r:id="rId10"/>
    <p:sldId id="310" r:id="rId11"/>
    <p:sldId id="293" r:id="rId12"/>
    <p:sldId id="320" r:id="rId13"/>
    <p:sldId id="260" r:id="rId14"/>
    <p:sldId id="321" r:id="rId15"/>
    <p:sldId id="366" r:id="rId16"/>
    <p:sldId id="379" r:id="rId17"/>
    <p:sldId id="528" r:id="rId18"/>
    <p:sldId id="529" r:id="rId19"/>
    <p:sldId id="312" r:id="rId20"/>
    <p:sldId id="298" r:id="rId21"/>
    <p:sldId id="530" r:id="rId22"/>
    <p:sldId id="311" r:id="rId23"/>
    <p:sldId id="365" r:id="rId24"/>
    <p:sldId id="314" r:id="rId25"/>
    <p:sldId id="315" r:id="rId26"/>
    <p:sldId id="531" r:id="rId27"/>
    <p:sldId id="456" r:id="rId28"/>
    <p:sldId id="458" r:id="rId29"/>
    <p:sldId id="457" r:id="rId3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317" autoAdjust="0"/>
  </p:normalViewPr>
  <p:slideViewPr>
    <p:cSldViewPr>
      <p:cViewPr varScale="1">
        <p:scale>
          <a:sx n="109" d="100"/>
          <a:sy n="109" d="100"/>
        </p:scale>
        <p:origin x="100" y="1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3F24C8-8586-45AC-B95D-0AA261F72EA7}" type="datetimeFigureOut">
              <a:rPr lang="en-GB" smtClean="0"/>
              <a:t>16/02/2025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CE7514-4B2C-4C2A-8095-19DC27A885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0663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4211" name="Rectangle 3"/>
          <p:cNvSpPr>
            <a:spLocks noGrp="1"/>
          </p:cNvSpPr>
          <p:nvPr>
            <p:ph type="body" idx="1"/>
          </p:nvPr>
        </p:nvSpPr>
        <p:spPr>
          <a:xfrm>
            <a:off x="908050" y="4665663"/>
            <a:ext cx="4992688" cy="4421187"/>
          </a:xfrm>
        </p:spPr>
        <p:txBody>
          <a:bodyPr wrap="none" lIns="92075" tIns="46037" rIns="92075" bIns="46037" anchor="ctr"/>
          <a:lstStyle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5235" name="Rectangle 3"/>
          <p:cNvSpPr>
            <a:spLocks noGrp="1"/>
          </p:cNvSpPr>
          <p:nvPr>
            <p:ph type="body" idx="1"/>
          </p:nvPr>
        </p:nvSpPr>
        <p:spPr>
          <a:xfrm>
            <a:off x="908050" y="4665663"/>
            <a:ext cx="4992688" cy="4421187"/>
          </a:xfrm>
        </p:spPr>
        <p:txBody>
          <a:bodyPr wrap="none" lIns="92075" tIns="46037" rIns="92075" bIns="46037" anchor="ctr"/>
          <a:lstStyle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6259" name="Rectangle 3"/>
          <p:cNvSpPr>
            <a:spLocks noGrp="1"/>
          </p:cNvSpPr>
          <p:nvPr>
            <p:ph type="body" idx="1"/>
          </p:nvPr>
        </p:nvSpPr>
        <p:spPr>
          <a:xfrm>
            <a:off x="908050" y="4665663"/>
            <a:ext cx="4992688" cy="4421187"/>
          </a:xfrm>
        </p:spPr>
        <p:txBody>
          <a:bodyPr wrap="none" lIns="92075" tIns="46037" rIns="92075" bIns="46037" anchor="ctr"/>
          <a:lstStyle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1379" name="备注占位符 2"/>
          <p:cNvSpPr>
            <a:spLocks noGrp="1"/>
          </p:cNvSpPr>
          <p:nvPr>
            <p:ph type="body" idx="1"/>
          </p:nvPr>
        </p:nvSpPr>
        <p:spPr>
          <a:xfrm>
            <a:off x="908050" y="4665663"/>
            <a:ext cx="4992688" cy="4421187"/>
          </a:xfrm>
        </p:spPr>
        <p:txBody>
          <a:bodyPr wrap="none" lIns="92075" tIns="46037" rIns="92075" bIns="46037" anchor="ctr"/>
          <a:lstStyle/>
          <a:p>
            <a:pPr lvl="0"/>
            <a:r>
              <a:rPr lang="zh-CN" altLang="en-US" b="1" dirty="0">
                <a:latin typeface="Arial" panose="020B0604020202020204" pitchFamily="34" charset="0"/>
              </a:rPr>
              <a:t>讲课之前，我们先聊聊计算机。</a:t>
            </a:r>
            <a:endParaRPr lang="en-US" altLang="zh-CN" b="1" dirty="0">
              <a:latin typeface="Arial" panose="020B0604020202020204" pitchFamily="34" charset="0"/>
            </a:endParaRPr>
          </a:p>
          <a:p>
            <a:pPr lvl="0"/>
            <a:r>
              <a:rPr lang="zh-CN" altLang="en-US" b="1" dirty="0">
                <a:latin typeface="Arial" panose="020B0604020202020204" pitchFamily="34" charset="0"/>
              </a:rPr>
              <a:t>我们见过计算机吧？谁能说说计算机长什么样子？也就是计算机的主要组成？显示器、键盘、鼠标和一台主机箱。</a:t>
            </a:r>
            <a:endParaRPr lang="en-US" altLang="zh-CN" b="1" dirty="0">
              <a:latin typeface="Arial" panose="020B0604020202020204" pitchFamily="34" charset="0"/>
            </a:endParaRPr>
          </a:p>
          <a:p>
            <a:pPr lvl="0"/>
            <a:r>
              <a:rPr lang="zh-CN" altLang="en-US" b="1" dirty="0">
                <a:latin typeface="Arial" panose="020B0604020202020204" pitchFamily="34" charset="0"/>
              </a:rPr>
              <a:t>主机箱里都有什么呢？</a:t>
            </a:r>
            <a:r>
              <a:rPr lang="en-US" altLang="zh-CN" b="1" dirty="0">
                <a:latin typeface="Arial" panose="020B0604020202020204" pitchFamily="34" charset="0"/>
              </a:rPr>
              <a:t>CPU</a:t>
            </a:r>
            <a:r>
              <a:rPr lang="zh-CN" altLang="en-US" b="1" dirty="0">
                <a:latin typeface="Arial" panose="020B0604020202020204" pitchFamily="34" charset="0"/>
              </a:rPr>
              <a:t>、主板、内存、硬盘、光驱、声卡、显卡和电源。</a:t>
            </a:r>
            <a:endParaRPr lang="en-US" altLang="zh-CN" b="1" dirty="0">
              <a:latin typeface="Arial" panose="020B0604020202020204" pitchFamily="34" charset="0"/>
            </a:endParaRPr>
          </a:p>
          <a:p>
            <a:pPr lvl="0"/>
            <a:r>
              <a:rPr lang="zh-CN" altLang="en-US" b="1" dirty="0">
                <a:latin typeface="Arial" panose="020B0604020202020204" pitchFamily="34" charset="0"/>
              </a:rPr>
              <a:t>硬件组装好以后，再连接上显示器、键盘、鼠标，插上电源，现在，这台计算机可以正常使用用了吗？为什么？</a:t>
            </a:r>
            <a:endParaRPr lang="en-US" altLang="zh-CN" b="1" dirty="0">
              <a:latin typeface="Arial" panose="020B0604020202020204" pitchFamily="34" charset="0"/>
            </a:endParaRPr>
          </a:p>
          <a:p>
            <a:pPr lvl="0"/>
            <a:r>
              <a:rPr lang="zh-CN" altLang="en-US" b="1" dirty="0">
                <a:latin typeface="Arial" panose="020B0604020202020204" pitchFamily="34" charset="0"/>
                <a:ea typeface="楷体_GB2312" pitchFamily="49" charset="-122"/>
              </a:rPr>
              <a:t>只有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硬件系统</a:t>
            </a:r>
            <a:r>
              <a:rPr lang="zh-CN" altLang="en-US" b="1" dirty="0">
                <a:latin typeface="Arial" panose="020B0604020202020204" pitchFamily="34" charset="0"/>
                <a:ea typeface="楷体_GB2312" pitchFamily="49" charset="-122"/>
              </a:rPr>
              <a:t>是不行的，还必须安装上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软件系统</a:t>
            </a:r>
            <a:endParaRPr lang="en-US" altLang="zh-CN" dirty="0"/>
          </a:p>
        </p:txBody>
      </p:sp>
      <p:sp>
        <p:nvSpPr>
          <p:cNvPr id="10138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57625" y="9332913"/>
            <a:ext cx="2951163" cy="4905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7" rIns="92075" bIns="46037" anchor="b"/>
          <a:lstStyle/>
          <a:p>
            <a:pPr lvl="0" algn="r"/>
            <a:fld id="{9A0DB2DC-4C9A-4742-B13C-FB6460FD3503}" type="slidenum">
              <a:rPr lang="en-US" altLang="zh-CN" sz="1200" dirty="0"/>
              <a:t>15</a:t>
            </a:fld>
            <a:endParaRPr lang="en-US" altLang="zh-CN" sz="120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2403" name="Rectangle 3"/>
          <p:cNvSpPr>
            <a:spLocks noGrp="1"/>
          </p:cNvSpPr>
          <p:nvPr>
            <p:ph type="body" idx="1"/>
          </p:nvPr>
        </p:nvSpPr>
        <p:spPr>
          <a:xfrm>
            <a:off x="908050" y="4665663"/>
            <a:ext cx="4992688" cy="4421187"/>
          </a:xfrm>
        </p:spPr>
        <p:txBody>
          <a:bodyPr wrap="none" lIns="92075" tIns="46037" rIns="92075" bIns="46037" anchor="ctr"/>
          <a:lstStyle/>
          <a:p>
            <a:pPr lvl="0"/>
            <a:r>
              <a:rPr lang="en-NZ" altLang="zh-CN" b="1" dirty="0"/>
              <a:t>An operating system mediates among application programs, utilities, and users, on the one hand, and the computer system hardware on the other. </a:t>
            </a:r>
          </a:p>
          <a:p>
            <a:pPr lvl="0"/>
            <a:r>
              <a:rPr lang="en-NZ" altLang="zh-CN" b="1" dirty="0"/>
              <a:t>To appreciate the functionality of the operating system and the design issues involved, one must have some appreciation for computer organization and architecture. </a:t>
            </a:r>
          </a:p>
          <a:p>
            <a:pPr marL="0" lvl="1" indent="0"/>
            <a:r>
              <a:rPr lang="en-NZ" altLang="zh-CN" b="1" dirty="0"/>
              <a:t>This chapter provides a brief survey of the basic elements of a computer system including</a:t>
            </a:r>
          </a:p>
          <a:p>
            <a:pPr marL="0" lvl="1" indent="0"/>
            <a:r>
              <a:rPr lang="en-NZ" altLang="zh-CN" b="1" dirty="0"/>
              <a:t> the processor,</a:t>
            </a:r>
          </a:p>
          <a:p>
            <a:pPr marL="0" lvl="1" indent="0"/>
            <a:r>
              <a:rPr lang="en-NZ" altLang="zh-CN" b="1" dirty="0"/>
              <a:t> memory, and </a:t>
            </a:r>
          </a:p>
          <a:p>
            <a:pPr marL="0" lvl="1" indent="0"/>
            <a:r>
              <a:rPr lang="en-NZ" altLang="zh-CN" b="1" dirty="0"/>
              <a:t> Input/Output (I/O)</a:t>
            </a:r>
          </a:p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3427" name="Rectangle 3"/>
          <p:cNvSpPr>
            <a:spLocks noGrp="1"/>
          </p:cNvSpPr>
          <p:nvPr>
            <p:ph type="body" idx="1"/>
          </p:nvPr>
        </p:nvSpPr>
        <p:spPr>
          <a:xfrm>
            <a:off x="908050" y="4665663"/>
            <a:ext cx="4992688" cy="4421187"/>
          </a:xfrm>
        </p:spPr>
        <p:txBody>
          <a:bodyPr wrap="none" lIns="92075" tIns="46037" rIns="92075" bIns="46037" anchor="ctr"/>
          <a:lstStyle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4451" name="Rectangle 3"/>
          <p:cNvSpPr>
            <a:spLocks noGrp="1"/>
          </p:cNvSpPr>
          <p:nvPr>
            <p:ph type="body" idx="1"/>
          </p:nvPr>
        </p:nvSpPr>
        <p:spPr>
          <a:xfrm>
            <a:off x="908050" y="4665663"/>
            <a:ext cx="4992688" cy="4421187"/>
          </a:xfrm>
        </p:spPr>
        <p:txBody>
          <a:bodyPr wrap="none" lIns="92075" tIns="46037" rIns="92075" bIns="46037" anchor="ctr"/>
          <a:lstStyle/>
          <a:p>
            <a:pPr lvl="0"/>
            <a:r>
              <a:rPr lang="zh-CN" altLang="en-US" b="1" dirty="0"/>
              <a:t>操作系统的定义有很多，</a:t>
            </a:r>
            <a:r>
              <a:rPr lang="en-US" altLang="zh-CN" b="1" dirty="0"/>
              <a:t>ppt</a:t>
            </a:r>
            <a:r>
              <a:rPr lang="zh-CN" altLang="en-US" b="1" dirty="0"/>
              <a:t>上是维基百科对操作系统的定义。</a:t>
            </a:r>
            <a:endParaRPr lang="en-NZ" altLang="zh-CN" b="1" dirty="0"/>
          </a:p>
          <a:p>
            <a:pPr lvl="0"/>
            <a:r>
              <a:rPr lang="en-NZ" altLang="zh-CN" b="1" dirty="0"/>
              <a:t>So,An operating system (OS) exploits the hardware resources of one or more processors to provide a set of services to system users. </a:t>
            </a:r>
          </a:p>
          <a:p>
            <a:pPr lvl="0"/>
            <a:r>
              <a:rPr lang="en-NZ" altLang="zh-CN" b="1" dirty="0"/>
              <a:t>The OS also manages secondary memory and I/O (input/output) devices on behalf of its users. </a:t>
            </a:r>
          </a:p>
          <a:p>
            <a:pPr lvl="0"/>
            <a:r>
              <a:rPr lang="en-NZ" altLang="zh-CN" b="1" dirty="0"/>
              <a:t>Accordingly, it is important to have some understanding of the underlying computer system hardware before we begin our examination of operating systems.</a:t>
            </a:r>
          </a:p>
          <a:p>
            <a:pPr lvl="0"/>
            <a:r>
              <a:rPr lang="en-NZ" altLang="zh-CN" b="1" dirty="0"/>
              <a:t>Many areas introduced in this chapter are covered in more depth later.</a:t>
            </a:r>
            <a:endParaRPr lang="en-US" altLang="zh-CN" b="1" dirty="0"/>
          </a:p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5475" name="Rectangle 3"/>
          <p:cNvSpPr>
            <a:spLocks noGrp="1"/>
          </p:cNvSpPr>
          <p:nvPr>
            <p:ph type="body" idx="1"/>
          </p:nvPr>
        </p:nvSpPr>
        <p:spPr>
          <a:xfrm>
            <a:off x="908050" y="4665663"/>
            <a:ext cx="4992688" cy="4421187"/>
          </a:xfrm>
        </p:spPr>
        <p:txBody>
          <a:bodyPr wrap="none" lIns="92075" tIns="46037" rIns="92075" bIns="46037" anchor="ctr"/>
          <a:lstStyle/>
          <a:p>
            <a:pPr lvl="0"/>
            <a:r>
              <a:rPr lang="en-NZ" altLang="zh-CN" b="1" dirty="0"/>
              <a:t>At a top level, a computer consists of processor, memory, and I/O components, with one or more modules of each type. </a:t>
            </a:r>
          </a:p>
          <a:p>
            <a:pPr lvl="0"/>
            <a:r>
              <a:rPr lang="en-NZ" altLang="zh-CN" b="1" dirty="0"/>
              <a:t>These components are interconnected in some fashion to achieve the main function of the computer, which is to execute programs.</a:t>
            </a:r>
          </a:p>
          <a:p>
            <a:pPr lvl="0"/>
            <a:r>
              <a:rPr lang="zh-CN" altLang="en-US" dirty="0"/>
              <a:t>在一个计算机系统中，通常都含有多种硬件和软件资源。归纳起来可将这些资源分为四类：处理机、存储器、</a:t>
            </a:r>
            <a:r>
              <a:rPr lang="en-US" altLang="zh-CN" dirty="0"/>
              <a:t>I/O</a:t>
            </a:r>
            <a:r>
              <a:rPr lang="zh-CN" altLang="en-US" dirty="0"/>
              <a:t>设备以及文件</a:t>
            </a:r>
            <a:r>
              <a:rPr lang="en-US" altLang="zh-CN" dirty="0"/>
              <a:t>(</a:t>
            </a:r>
            <a:r>
              <a:rPr lang="zh-CN" altLang="en-US" dirty="0"/>
              <a:t>数据和程序</a:t>
            </a:r>
            <a:r>
              <a:rPr lang="en-US" altLang="zh-CN" dirty="0"/>
              <a:t>)</a:t>
            </a:r>
            <a:r>
              <a:rPr lang="zh-CN" altLang="en-US" dirty="0"/>
              <a:t>。相应地，</a:t>
            </a:r>
            <a:r>
              <a:rPr lang="en-US" altLang="zh-CN" dirty="0"/>
              <a:t>OS</a:t>
            </a:r>
            <a:r>
              <a:rPr lang="zh-CN" altLang="en-US" dirty="0"/>
              <a:t>的主要功能也正是对这四类资源进行有效的管理。处理机管理是用于分配和控制处理机；存储器管理主要负责内存的分配与回收；</a:t>
            </a:r>
            <a:r>
              <a:rPr lang="en-US" altLang="zh-CN" dirty="0"/>
              <a:t>I/O</a:t>
            </a:r>
            <a:r>
              <a:rPr lang="zh-CN" altLang="en-US" dirty="0"/>
              <a:t>设备管理是负责</a:t>
            </a:r>
            <a:r>
              <a:rPr lang="en-US" altLang="zh-CN" dirty="0"/>
              <a:t>I/O</a:t>
            </a:r>
            <a:r>
              <a:rPr lang="zh-CN" altLang="en-US" dirty="0"/>
              <a:t>设备的分配</a:t>
            </a:r>
            <a:r>
              <a:rPr lang="en-US" altLang="zh-CN" dirty="0"/>
              <a:t>(</a:t>
            </a:r>
            <a:r>
              <a:rPr lang="zh-CN" altLang="en-US" dirty="0"/>
              <a:t>回收</a:t>
            </a:r>
            <a:r>
              <a:rPr lang="en-US" altLang="zh-CN" dirty="0"/>
              <a:t>)</a:t>
            </a:r>
            <a:r>
              <a:rPr lang="zh-CN" altLang="en-US" dirty="0"/>
              <a:t>与操纵；文件管理是用于实现对文件的存取、共享和保护。可见，</a:t>
            </a:r>
            <a:r>
              <a:rPr lang="en-US" altLang="zh-CN" dirty="0"/>
              <a:t>OS</a:t>
            </a:r>
            <a:r>
              <a:rPr lang="zh-CN" altLang="en-US" dirty="0"/>
              <a:t>的确是计算机系统资源的管理者。</a:t>
            </a:r>
            <a:endParaRPr lang="en-NZ" altLang="zh-CN" b="1" dirty="0"/>
          </a:p>
          <a:p>
            <a:pPr lvl="0"/>
            <a:endParaRPr lang="en-NZ" altLang="zh-CN" b="1" dirty="0"/>
          </a:p>
          <a:p>
            <a:pPr lvl="0"/>
            <a:endParaRPr lang="zh-CN" altLang="zh-CN" b="1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6499" name="Rectangle 3"/>
          <p:cNvSpPr>
            <a:spLocks noGrp="1"/>
          </p:cNvSpPr>
          <p:nvPr>
            <p:ph type="body" idx="1"/>
          </p:nvPr>
        </p:nvSpPr>
        <p:spPr>
          <a:xfrm>
            <a:off x="908050" y="4665663"/>
            <a:ext cx="4992688" cy="4421187"/>
          </a:xfrm>
        </p:spPr>
        <p:txBody>
          <a:bodyPr wrap="none" lIns="92075" tIns="46037" rIns="92075" bIns="46037" anchor="ctr"/>
          <a:lstStyle/>
          <a:p>
            <a:pPr lvl="0"/>
            <a:r>
              <a:rPr lang="en-US" altLang="zh-CN" dirty="0"/>
              <a:t>OS</a:t>
            </a:r>
            <a:r>
              <a:rPr lang="zh-CN" altLang="en-US" dirty="0"/>
              <a:t>作为用户与计算机硬件系统之间接口的含义是：</a:t>
            </a:r>
            <a:r>
              <a:rPr lang="en-US" altLang="zh-CN" dirty="0"/>
              <a:t>OS</a:t>
            </a:r>
            <a:r>
              <a:rPr lang="zh-CN" altLang="en-US" dirty="0"/>
              <a:t>处于用户与计算机硬件系统之间，用户通过</a:t>
            </a:r>
            <a:r>
              <a:rPr lang="en-US" altLang="zh-CN" dirty="0"/>
              <a:t>OS</a:t>
            </a:r>
            <a:r>
              <a:rPr lang="zh-CN" altLang="en-US" dirty="0"/>
              <a:t>来使用计算机系统。或者说，用户在</a:t>
            </a:r>
            <a:r>
              <a:rPr lang="en-US" altLang="zh-CN" dirty="0"/>
              <a:t>OS</a:t>
            </a:r>
            <a:r>
              <a:rPr lang="zh-CN" altLang="en-US" dirty="0"/>
              <a:t>帮助下能够方便、快捷、可靠地操纵计算机硬件和运行自己的程序。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7523" name="Rectangle 3"/>
          <p:cNvSpPr>
            <a:spLocks noGrp="1"/>
          </p:cNvSpPr>
          <p:nvPr>
            <p:ph type="body" idx="1"/>
          </p:nvPr>
        </p:nvSpPr>
        <p:spPr>
          <a:xfrm>
            <a:off x="908050" y="4665663"/>
            <a:ext cx="4992688" cy="4421187"/>
          </a:xfrm>
        </p:spPr>
        <p:txBody>
          <a:bodyPr wrap="none" lIns="92075" tIns="46037" rIns="92075" bIns="46037" anchor="ctr"/>
          <a:lstStyle/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8547" name="Rectangle 3"/>
          <p:cNvSpPr>
            <a:spLocks noGrp="1"/>
          </p:cNvSpPr>
          <p:nvPr>
            <p:ph type="body" idx="1"/>
          </p:nvPr>
        </p:nvSpPr>
        <p:spPr>
          <a:xfrm>
            <a:off x="908050" y="4665663"/>
            <a:ext cx="4992688" cy="4421187"/>
          </a:xfrm>
        </p:spPr>
        <p:txBody>
          <a:bodyPr wrap="none" lIns="92075" tIns="46037" rIns="92075" bIns="46037" anchor="ctr"/>
          <a:lstStyle/>
          <a:p>
            <a:pPr lvl="0"/>
            <a:r>
              <a:rPr lang="en-US" altLang="zh-CN" b="1" dirty="0">
                <a:solidFill>
                  <a:srgbClr val="000099"/>
                </a:solidFill>
              </a:rPr>
              <a:t>Traditional Definition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9571" name="Rectangle 3"/>
          <p:cNvSpPr>
            <a:spLocks noGrp="1"/>
          </p:cNvSpPr>
          <p:nvPr>
            <p:ph type="body" idx="1"/>
          </p:nvPr>
        </p:nvSpPr>
        <p:spPr>
          <a:xfrm>
            <a:off x="908050" y="4665663"/>
            <a:ext cx="4992688" cy="4421187"/>
          </a:xfrm>
        </p:spPr>
        <p:txBody>
          <a:bodyPr wrap="none" lIns="92075" tIns="46037" rIns="92075" bIns="46037" anchor="ctr"/>
          <a:lstStyle/>
          <a:p>
            <a:pPr lvl="0"/>
            <a:r>
              <a:rPr lang="en-NZ" altLang="zh-CN" dirty="0"/>
              <a:t>An OS is a program that controls the execution of application programs and acts as an interface between applications and the computer hardware. </a:t>
            </a:r>
          </a:p>
          <a:p>
            <a:pPr lvl="0"/>
            <a:endParaRPr lang="en-NZ" altLang="zh-CN" dirty="0"/>
          </a:p>
          <a:p>
            <a:pPr lvl="0"/>
            <a:r>
              <a:rPr lang="en-NZ" altLang="zh-CN" dirty="0"/>
              <a:t>It can be thought of as having three objectives:</a:t>
            </a:r>
          </a:p>
          <a:p>
            <a:pPr lvl="0"/>
            <a:r>
              <a:rPr lang="en-NZ" altLang="zh-CN" b="1" dirty="0"/>
              <a:t>Convenience: </a:t>
            </a:r>
          </a:p>
          <a:p>
            <a:pPr lvl="1"/>
            <a:r>
              <a:rPr lang="en-NZ" altLang="zh-CN" b="1" dirty="0"/>
              <a:t> </a:t>
            </a:r>
            <a:r>
              <a:rPr lang="en-NZ" altLang="zh-CN" dirty="0"/>
              <a:t>An OS makes a computer more convenient to use.</a:t>
            </a:r>
          </a:p>
          <a:p>
            <a:pPr lvl="0"/>
            <a:r>
              <a:rPr lang="en-NZ" altLang="zh-CN" b="1" dirty="0"/>
              <a:t>Efficiency: </a:t>
            </a:r>
          </a:p>
          <a:p>
            <a:pPr lvl="1"/>
            <a:r>
              <a:rPr lang="en-NZ" altLang="zh-CN" b="1" dirty="0"/>
              <a:t> </a:t>
            </a:r>
            <a:r>
              <a:rPr lang="en-NZ" altLang="zh-CN" dirty="0"/>
              <a:t>An OS allows the computer system resources to be used in an efficient manner.</a:t>
            </a:r>
          </a:p>
          <a:p>
            <a:pPr lvl="0"/>
            <a:r>
              <a:rPr lang="en-NZ" altLang="zh-CN" b="1" dirty="0"/>
              <a:t>Ability to evolve: </a:t>
            </a:r>
          </a:p>
          <a:p>
            <a:pPr lvl="1"/>
            <a:r>
              <a:rPr lang="en-NZ" altLang="zh-CN" b="1" dirty="0"/>
              <a:t> </a:t>
            </a:r>
            <a:r>
              <a:rPr lang="en-NZ" altLang="zh-CN" dirty="0"/>
              <a:t>An OS should be constructed in such a way as to permit the effective development, testing, and introduction of new system functions without interfering with service.</a:t>
            </a:r>
            <a:endParaRPr lang="en-US" altLang="zh-CN" dirty="0"/>
          </a:p>
          <a:p>
            <a:pPr lvl="0"/>
            <a:endParaRPr lang="zh-CN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wrap="none" lIns="92075" tIns="46037" rIns="92075" bIns="46037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对于一台完全无软件的计算机系统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即裸机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，由于它向用户提供的仅是硬件接口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物理接口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，因此，用户必须对物理接口的实现细节有充分的了解，这就致使该物理机器难于广泛使用。为了方便用户使用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I/O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设备，人们在裸机上覆盖上一层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I/O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设备管理软件，如图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1-2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所示，由它来实现对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I/O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设备操作的细节，并向上将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I/O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设备抽象为一组数据结构以及一组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I/O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操作命令，如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read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和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write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命令，这样用户即可利用这些数据结构及操作命令来进行数据输入或输出，而无需关心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I/O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是如何具体实现的。 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Virtual machine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楷体_GB2312" pitchFamily="49" charset="-122"/>
                <a:cs typeface="+mn-cs"/>
              </a:rPr>
              <a:t>裸机在每增加一层软件后，就成为一个功能更强的机器，通常将这个“新的功能更强的机器”称为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楷体_GB2312" pitchFamily="49" charset="-122"/>
                <a:cs typeface="+mn-cs"/>
              </a:rPr>
              <a:t>“</a:t>
            </a:r>
            <a:r>
              <a:rPr kumimoji="0" lang="zh-CN" altLang="en-US" sz="1200" b="1" i="1" u="none" strike="noStrike" kern="1200" cap="none" spc="0" normalizeH="0" baseline="0" noProof="0" dirty="0">
                <a:ln>
                  <a:noFill/>
                </a:ln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楷体_GB2312" pitchFamily="49" charset="-122"/>
                <a:cs typeface="+mn-cs"/>
              </a:rPr>
              <a:t>虚拟机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mic Sans MS" panose="030F0702030302020204" pitchFamily="66" charset="0"/>
                <a:ea typeface="楷体_GB2312" pitchFamily="49" charset="-122"/>
                <a:cs typeface="+mn-cs"/>
              </a:rPr>
              <a:t>”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mic Sans MS" panose="030F0702030302020204" pitchFamily="66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mic Sans MS" panose="030F0702030302020204" pitchFamily="66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NZ" altLang="zh-CN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The hardware and software used in providing applications to a user can be viewed in a layered or hierarchical fashion, as depicted here.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NZ" altLang="zh-CN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NZ" altLang="zh-CN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The user of those applications, the end user, generally is not concerned with the details of computer hardware.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NZ" altLang="zh-CN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The end user views a computer system in terms of a set of applications.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NZ" altLang="zh-CN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An application can be expressed in a programming language and is developed by an application programmer.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NZ" altLang="zh-CN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NZ" altLang="zh-CN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If one were to develop an application program as a set of machine instructions that is completely responsible for controlling the computer hardware, one would be faced with an overwhelmingly complex undertaking.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NZ" altLang="zh-CN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NZ" altLang="zh-CN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The most important collection of system programs comprises the OS.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NZ" altLang="zh-CN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The OS masks the details of the hardware from the programmer and provides the programmer with a convenient interface for using the system.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NZ" altLang="zh-CN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It acts as mediator, making it easier for the programmer and for application programs to access and use those facilities and services.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mic Sans MS" panose="030F0702030302020204" pitchFamily="66" charset="0"/>
              <a:ea typeface="楷体_GB2312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29</a:t>
            </a:fld>
            <a:endParaRPr lang="zh-CN" altLang="en-US" sz="1200" dirty="0"/>
          </a:p>
        </p:txBody>
      </p:sp>
      <p:sp>
        <p:nvSpPr>
          <p:cNvPr id="7680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680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1076" y="0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200" y="6857999"/>
                </a:lnTo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24928" y="3681983"/>
            <a:ext cx="4763770" cy="3176905"/>
          </a:xfrm>
          <a:custGeom>
            <a:avLst/>
            <a:gdLst/>
            <a:ahLst/>
            <a:cxnLst/>
            <a:rect l="l" t="t" r="r" b="b"/>
            <a:pathLst>
              <a:path w="4763770" h="3176904">
                <a:moveTo>
                  <a:pt x="4763516" y="0"/>
                </a:moveTo>
                <a:lnTo>
                  <a:pt x="0" y="3176586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2100" y="0"/>
            <a:ext cx="3007360" cy="6858000"/>
          </a:xfrm>
          <a:custGeom>
            <a:avLst/>
            <a:gdLst/>
            <a:ahLst/>
            <a:cxnLst/>
            <a:rect l="l" t="t" r="r" b="b"/>
            <a:pathLst>
              <a:path w="3007359" h="6858000">
                <a:moveTo>
                  <a:pt x="3006852" y="0"/>
                </a:moveTo>
                <a:lnTo>
                  <a:pt x="2042484" y="0"/>
                </a:lnTo>
                <a:lnTo>
                  <a:pt x="0" y="6858000"/>
                </a:lnTo>
                <a:lnTo>
                  <a:pt x="3006852" y="6858000"/>
                </a:lnTo>
                <a:lnTo>
                  <a:pt x="3006852" y="0"/>
                </a:lnTo>
                <a:close/>
              </a:path>
            </a:pathLst>
          </a:custGeom>
          <a:solidFill>
            <a:srgbClr val="90C225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4335" y="0"/>
            <a:ext cx="2588260" cy="6858000"/>
          </a:xfrm>
          <a:custGeom>
            <a:avLst/>
            <a:gdLst/>
            <a:ahLst/>
            <a:cxnLst/>
            <a:rect l="l" t="t" r="r" b="b"/>
            <a:pathLst>
              <a:path w="2588259" h="6858000">
                <a:moveTo>
                  <a:pt x="2587665" y="0"/>
                </a:moveTo>
                <a:lnTo>
                  <a:pt x="0" y="0"/>
                </a:lnTo>
                <a:lnTo>
                  <a:pt x="1208191" y="6857999"/>
                </a:lnTo>
                <a:lnTo>
                  <a:pt x="2587665" y="6857999"/>
                </a:lnTo>
                <a:lnTo>
                  <a:pt x="2587665" y="0"/>
                </a:lnTo>
                <a:close/>
              </a:path>
            </a:pathLst>
          </a:custGeom>
          <a:solidFill>
            <a:srgbClr val="90C22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2164" y="3048000"/>
            <a:ext cx="3260090" cy="3810000"/>
          </a:xfrm>
          <a:custGeom>
            <a:avLst/>
            <a:gdLst/>
            <a:ahLst/>
            <a:cxnLst/>
            <a:rect l="l" t="t" r="r" b="b"/>
            <a:pathLst>
              <a:path w="3260090" h="3810000">
                <a:moveTo>
                  <a:pt x="3259835" y="0"/>
                </a:moveTo>
                <a:lnTo>
                  <a:pt x="0" y="3809999"/>
                </a:lnTo>
                <a:lnTo>
                  <a:pt x="3259835" y="3809999"/>
                </a:lnTo>
                <a:lnTo>
                  <a:pt x="3259835" y="0"/>
                </a:lnTo>
                <a:close/>
              </a:path>
            </a:pathLst>
          </a:custGeom>
          <a:solidFill>
            <a:srgbClr val="539F20">
              <a:alpha val="7215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790" y="0"/>
            <a:ext cx="2851785" cy="6858000"/>
          </a:xfrm>
          <a:custGeom>
            <a:avLst/>
            <a:gdLst/>
            <a:ahLst/>
            <a:cxnLst/>
            <a:rect l="l" t="t" r="r" b="b"/>
            <a:pathLst>
              <a:path w="2851784" h="6858000">
                <a:moveTo>
                  <a:pt x="2851161" y="0"/>
                </a:moveTo>
                <a:lnTo>
                  <a:pt x="0" y="0"/>
                </a:lnTo>
                <a:lnTo>
                  <a:pt x="2467621" y="6858000"/>
                </a:lnTo>
                <a:lnTo>
                  <a:pt x="2851161" y="6858000"/>
                </a:lnTo>
                <a:lnTo>
                  <a:pt x="2851161" y="0"/>
                </a:lnTo>
                <a:close/>
              </a:path>
            </a:pathLst>
          </a:custGeom>
          <a:solidFill>
            <a:srgbClr val="3E7818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940748" y="0"/>
            <a:ext cx="1248410" cy="6858000"/>
          </a:xfrm>
          <a:custGeom>
            <a:avLst/>
            <a:gdLst/>
            <a:ahLst/>
            <a:cxnLst/>
            <a:rect l="l" t="t" r="r" b="b"/>
            <a:pathLst>
              <a:path w="1248409" h="6858000">
                <a:moveTo>
                  <a:pt x="1248203" y="0"/>
                </a:moveTo>
                <a:lnTo>
                  <a:pt x="0" y="0"/>
                </a:lnTo>
                <a:lnTo>
                  <a:pt x="1107741" y="6858000"/>
                </a:lnTo>
                <a:lnTo>
                  <a:pt x="1248203" y="6858000"/>
                </a:lnTo>
                <a:lnTo>
                  <a:pt x="1248203" y="0"/>
                </a:lnTo>
                <a:close/>
              </a:path>
            </a:pathLst>
          </a:custGeom>
          <a:solidFill>
            <a:srgbClr val="90C225">
              <a:alpha val="6509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372343" y="3590544"/>
            <a:ext cx="1816735" cy="3267710"/>
          </a:xfrm>
          <a:custGeom>
            <a:avLst/>
            <a:gdLst/>
            <a:ahLst/>
            <a:cxnLst/>
            <a:rect l="l" t="t" r="r" b="b"/>
            <a:pathLst>
              <a:path w="1816734" h="3267709">
                <a:moveTo>
                  <a:pt x="1816607" y="0"/>
                </a:moveTo>
                <a:lnTo>
                  <a:pt x="0" y="3267455"/>
                </a:lnTo>
                <a:lnTo>
                  <a:pt x="1816607" y="3267455"/>
                </a:lnTo>
                <a:lnTo>
                  <a:pt x="1816607" y="0"/>
                </a:lnTo>
                <a:close/>
              </a:path>
            </a:pathLst>
          </a:custGeom>
          <a:solidFill>
            <a:srgbClr val="90C225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0" y="0"/>
            <a:ext cx="843280" cy="5666740"/>
          </a:xfrm>
          <a:custGeom>
            <a:avLst/>
            <a:gdLst/>
            <a:ahLst/>
            <a:cxnLst/>
            <a:rect l="l" t="t" r="r" b="b"/>
            <a:pathLst>
              <a:path w="843280" h="5666740">
                <a:moveTo>
                  <a:pt x="842772" y="0"/>
                </a:moveTo>
                <a:lnTo>
                  <a:pt x="0" y="0"/>
                </a:lnTo>
                <a:lnTo>
                  <a:pt x="0" y="5666232"/>
                </a:lnTo>
                <a:lnTo>
                  <a:pt x="842772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43529" y="2833616"/>
            <a:ext cx="6352540" cy="15455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40404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40404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780288" y="6042259"/>
            <a:ext cx="3589325" cy="218650"/>
          </a:xfrm>
        </p:spPr>
        <p:txBody>
          <a:bodyPr/>
          <a:lstStyle/>
          <a:p>
            <a:pPr defTabSz="866303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21" kern="1200">
              <a:solidFill>
                <a:schemeClr val="tx1"/>
              </a:solidFill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305959" y="6042259"/>
            <a:ext cx="4993843" cy="218650"/>
          </a:xfrm>
        </p:spPr>
        <p:txBody>
          <a:bodyPr/>
          <a:lstStyle/>
          <a:p>
            <a:pPr defTabSz="866303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21" kern="1200">
              <a:solidFill>
                <a:schemeClr val="tx1"/>
              </a:solidFill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01116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6310" y="629158"/>
            <a:ext cx="4613910" cy="11079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780288" y="6042259"/>
            <a:ext cx="3589325" cy="218650"/>
          </a:xfrm>
        </p:spPr>
        <p:txBody>
          <a:bodyPr/>
          <a:lstStyle/>
          <a:p>
            <a:pPr defTabSz="866303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21" kern="1200">
              <a:solidFill>
                <a:schemeClr val="tx1"/>
              </a:solidFill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305959" y="6042259"/>
            <a:ext cx="4993843" cy="218650"/>
          </a:xfrm>
        </p:spPr>
        <p:txBody>
          <a:bodyPr/>
          <a:lstStyle/>
          <a:p>
            <a:pPr defTabSz="866303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21" kern="1200">
              <a:solidFill>
                <a:schemeClr val="tx1"/>
              </a:solidFill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09009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1076" y="0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200" y="6857999"/>
                </a:lnTo>
              </a:path>
            </a:pathLst>
          </a:custGeom>
          <a:ln w="9144">
            <a:solidFill>
              <a:srgbClr val="BEBE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24928" y="3681983"/>
            <a:ext cx="4763770" cy="3176905"/>
          </a:xfrm>
          <a:custGeom>
            <a:avLst/>
            <a:gdLst/>
            <a:ahLst/>
            <a:cxnLst/>
            <a:rect l="l" t="t" r="r" b="b"/>
            <a:pathLst>
              <a:path w="4763770" h="3176904">
                <a:moveTo>
                  <a:pt x="4763516" y="0"/>
                </a:moveTo>
                <a:lnTo>
                  <a:pt x="0" y="3176586"/>
                </a:lnTo>
              </a:path>
            </a:pathLst>
          </a:custGeom>
          <a:ln w="914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2100" y="0"/>
            <a:ext cx="3007360" cy="6858000"/>
          </a:xfrm>
          <a:custGeom>
            <a:avLst/>
            <a:gdLst/>
            <a:ahLst/>
            <a:cxnLst/>
            <a:rect l="l" t="t" r="r" b="b"/>
            <a:pathLst>
              <a:path w="3007359" h="6858000">
                <a:moveTo>
                  <a:pt x="3006852" y="0"/>
                </a:moveTo>
                <a:lnTo>
                  <a:pt x="2042484" y="0"/>
                </a:lnTo>
                <a:lnTo>
                  <a:pt x="0" y="6858000"/>
                </a:lnTo>
                <a:lnTo>
                  <a:pt x="3006852" y="6858000"/>
                </a:lnTo>
                <a:lnTo>
                  <a:pt x="3006852" y="0"/>
                </a:lnTo>
                <a:close/>
              </a:path>
            </a:pathLst>
          </a:custGeom>
          <a:solidFill>
            <a:srgbClr val="90C225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4335" y="0"/>
            <a:ext cx="2588260" cy="6858000"/>
          </a:xfrm>
          <a:custGeom>
            <a:avLst/>
            <a:gdLst/>
            <a:ahLst/>
            <a:cxnLst/>
            <a:rect l="l" t="t" r="r" b="b"/>
            <a:pathLst>
              <a:path w="2588259" h="6858000">
                <a:moveTo>
                  <a:pt x="2587665" y="0"/>
                </a:moveTo>
                <a:lnTo>
                  <a:pt x="0" y="0"/>
                </a:lnTo>
                <a:lnTo>
                  <a:pt x="1208191" y="6857999"/>
                </a:lnTo>
                <a:lnTo>
                  <a:pt x="2587665" y="6857999"/>
                </a:lnTo>
                <a:lnTo>
                  <a:pt x="2587665" y="0"/>
                </a:lnTo>
                <a:close/>
              </a:path>
            </a:pathLst>
          </a:custGeom>
          <a:solidFill>
            <a:srgbClr val="90C22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2164" y="3048000"/>
            <a:ext cx="3260090" cy="3810000"/>
          </a:xfrm>
          <a:custGeom>
            <a:avLst/>
            <a:gdLst/>
            <a:ahLst/>
            <a:cxnLst/>
            <a:rect l="l" t="t" r="r" b="b"/>
            <a:pathLst>
              <a:path w="3260090" h="3810000">
                <a:moveTo>
                  <a:pt x="3259835" y="0"/>
                </a:moveTo>
                <a:lnTo>
                  <a:pt x="0" y="3809999"/>
                </a:lnTo>
                <a:lnTo>
                  <a:pt x="3259835" y="3809999"/>
                </a:lnTo>
                <a:lnTo>
                  <a:pt x="3259835" y="0"/>
                </a:lnTo>
                <a:close/>
              </a:path>
            </a:pathLst>
          </a:custGeom>
          <a:solidFill>
            <a:srgbClr val="539F20">
              <a:alpha val="7215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790" y="0"/>
            <a:ext cx="2851785" cy="6858000"/>
          </a:xfrm>
          <a:custGeom>
            <a:avLst/>
            <a:gdLst/>
            <a:ahLst/>
            <a:cxnLst/>
            <a:rect l="l" t="t" r="r" b="b"/>
            <a:pathLst>
              <a:path w="2851784" h="6858000">
                <a:moveTo>
                  <a:pt x="2851161" y="0"/>
                </a:moveTo>
                <a:lnTo>
                  <a:pt x="0" y="0"/>
                </a:lnTo>
                <a:lnTo>
                  <a:pt x="2467621" y="6858000"/>
                </a:lnTo>
                <a:lnTo>
                  <a:pt x="2851161" y="6858000"/>
                </a:lnTo>
                <a:lnTo>
                  <a:pt x="2851161" y="0"/>
                </a:lnTo>
                <a:close/>
              </a:path>
            </a:pathLst>
          </a:custGeom>
          <a:solidFill>
            <a:srgbClr val="3E7818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8123" y="0"/>
            <a:ext cx="1290955" cy="6858000"/>
          </a:xfrm>
          <a:custGeom>
            <a:avLst/>
            <a:gdLst/>
            <a:ahLst/>
            <a:cxnLst/>
            <a:rect l="l" t="t" r="r" b="b"/>
            <a:pathLst>
              <a:path w="1290954" h="6858000">
                <a:moveTo>
                  <a:pt x="1290828" y="0"/>
                </a:moveTo>
                <a:lnTo>
                  <a:pt x="1018959" y="0"/>
                </a:lnTo>
                <a:lnTo>
                  <a:pt x="0" y="6858000"/>
                </a:lnTo>
                <a:lnTo>
                  <a:pt x="1290828" y="6858000"/>
                </a:lnTo>
                <a:lnTo>
                  <a:pt x="1290828" y="0"/>
                </a:lnTo>
                <a:close/>
              </a:path>
            </a:pathLst>
          </a:custGeom>
          <a:solidFill>
            <a:srgbClr val="C0E374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40748" y="0"/>
            <a:ext cx="1248410" cy="6858000"/>
          </a:xfrm>
          <a:custGeom>
            <a:avLst/>
            <a:gdLst/>
            <a:ahLst/>
            <a:cxnLst/>
            <a:rect l="l" t="t" r="r" b="b"/>
            <a:pathLst>
              <a:path w="1248409" h="6858000">
                <a:moveTo>
                  <a:pt x="1248203" y="0"/>
                </a:moveTo>
                <a:lnTo>
                  <a:pt x="0" y="0"/>
                </a:lnTo>
                <a:lnTo>
                  <a:pt x="1107741" y="6858000"/>
                </a:lnTo>
                <a:lnTo>
                  <a:pt x="1248203" y="6858000"/>
                </a:lnTo>
                <a:lnTo>
                  <a:pt x="1248203" y="0"/>
                </a:lnTo>
                <a:close/>
              </a:path>
            </a:pathLst>
          </a:custGeom>
          <a:solidFill>
            <a:srgbClr val="90C225">
              <a:alpha val="6509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2343" y="3590544"/>
            <a:ext cx="1816735" cy="3267710"/>
          </a:xfrm>
          <a:custGeom>
            <a:avLst/>
            <a:gdLst/>
            <a:ahLst/>
            <a:cxnLst/>
            <a:rect l="l" t="t" r="r" b="b"/>
            <a:pathLst>
              <a:path w="1816734" h="3267709">
                <a:moveTo>
                  <a:pt x="1816607" y="0"/>
                </a:moveTo>
                <a:lnTo>
                  <a:pt x="0" y="3267455"/>
                </a:lnTo>
                <a:lnTo>
                  <a:pt x="1816607" y="3267455"/>
                </a:lnTo>
                <a:lnTo>
                  <a:pt x="1816607" y="0"/>
                </a:lnTo>
                <a:close/>
              </a:path>
            </a:pathLst>
          </a:custGeom>
          <a:solidFill>
            <a:srgbClr val="90C225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4012691"/>
            <a:ext cx="448309" cy="2845435"/>
          </a:xfrm>
          <a:custGeom>
            <a:avLst/>
            <a:gdLst/>
            <a:ahLst/>
            <a:cxnLst/>
            <a:rect l="l" t="t" r="r" b="b"/>
            <a:pathLst>
              <a:path w="448309" h="2845434">
                <a:moveTo>
                  <a:pt x="0" y="0"/>
                </a:moveTo>
                <a:lnTo>
                  <a:pt x="0" y="2845307"/>
                </a:lnTo>
                <a:lnTo>
                  <a:pt x="448056" y="2845307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6310" y="629158"/>
            <a:ext cx="4613910" cy="5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6310" y="2186686"/>
            <a:ext cx="8348980" cy="3455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40404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mailto:iewrgao@zzu.edu.cn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hyperlink" Target="http://image.baidu.com/i?ct=503316480&amp;z=&amp;tn=baiduimagedetail&amp;word=%BC%C6%CB%E3%BB%FA%D3%B2%BC%FE+%B9%E2%C7%FD&amp;in=29873&amp;cl=2&amp;lm=-1&amp;pn=1&amp;rn=1&amp;di=7667156160&amp;ln=2000&amp;fr=&amp;fmq=&amp;ic=0&amp;s=0&amp;se=1&amp;sme=0&amp;tab=&amp;width=&amp;height=&amp;face=0&amp;is=&amp;istype=2" TargetMode="External"/><Relationship Id="rId18" Type="http://schemas.openxmlformats.org/officeDocument/2006/relationships/image" Target="../media/image15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17" Type="http://schemas.openxmlformats.org/officeDocument/2006/relationships/hyperlink" Target="http://image.baidu.com/i?ct=503316480&amp;z=&amp;tn=baiduimagedetail&amp;word=%BC%C6%CB%E3%BB%FA%D3%B2%BC%FE+%CA%F3%B1%EA&amp;in=15309&amp;cl=2&amp;lm=-1&amp;pn=43&amp;rn=1&amp;di=9693177720&amp;ln=2000&amp;fr=&amp;fmq=&amp;ic=0&amp;s=0&amp;se=1&amp;sme=0&amp;tab=&amp;width=&amp;height=&amp;face=0&amp;is=&amp;istype=2" TargetMode="External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5" Type="http://schemas.openxmlformats.org/officeDocument/2006/relationships/image" Target="../media/image13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Relationship Id="rId14" Type="http://schemas.openxmlformats.org/officeDocument/2006/relationships/image" Target="../media/image12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upload.wikimedia.org/wikipedia/commons/e/e1/Operating_system_placement.svg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w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752600" y="1981200"/>
            <a:ext cx="6477000" cy="1635704"/>
          </a:xfrm>
          <a:prstGeom prst="rect">
            <a:avLst/>
          </a:prstGeom>
        </p:spPr>
        <p:txBody>
          <a:bodyPr vert="horz" wrap="square" lIns="0" tIns="329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95"/>
              </a:spcBef>
            </a:pPr>
            <a:r>
              <a:rPr lang="en-US" sz="6000" dirty="0"/>
              <a:t>Operating Systems</a:t>
            </a:r>
            <a:endParaRPr sz="6000" dirty="0"/>
          </a:p>
          <a:p>
            <a:pPr marL="3888104">
              <a:lnSpc>
                <a:spcPct val="100000"/>
              </a:lnSpc>
              <a:spcBef>
                <a:spcPts val="830"/>
              </a:spcBef>
            </a:pPr>
            <a:r>
              <a:rPr sz="1800" dirty="0">
                <a:solidFill>
                  <a:srgbClr val="FFFFFF"/>
                </a:solidFill>
              </a:rPr>
              <a:t>Lecture</a:t>
            </a:r>
            <a:r>
              <a:rPr sz="1800" spc="-25" dirty="0">
                <a:solidFill>
                  <a:srgbClr val="FFFFFF"/>
                </a:solidFill>
              </a:rPr>
              <a:t> </a:t>
            </a:r>
            <a:r>
              <a:rPr sz="1800" dirty="0">
                <a:solidFill>
                  <a:srgbClr val="FFFFFF"/>
                </a:solidFill>
              </a:rPr>
              <a:t>0</a:t>
            </a:r>
            <a:r>
              <a:rPr sz="1800" spc="-45" dirty="0">
                <a:solidFill>
                  <a:srgbClr val="FFFFFF"/>
                </a:solidFill>
              </a:rPr>
              <a:t> </a:t>
            </a:r>
            <a:r>
              <a:rPr sz="1800" dirty="0">
                <a:solidFill>
                  <a:srgbClr val="FFFFFF"/>
                </a:solidFill>
              </a:rPr>
              <a:t>-</a:t>
            </a:r>
            <a:r>
              <a:rPr sz="1800" spc="-35" dirty="0">
                <a:solidFill>
                  <a:srgbClr val="FFFFFF"/>
                </a:solidFill>
              </a:rPr>
              <a:t> </a:t>
            </a:r>
            <a:r>
              <a:rPr sz="1800" spc="-10" dirty="0">
                <a:solidFill>
                  <a:srgbClr val="FFFFFF"/>
                </a:solidFill>
              </a:rPr>
              <a:t>Introduction</a:t>
            </a:r>
            <a:endParaRPr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Welcome</a:t>
            </a:r>
            <a:r>
              <a:rPr spc="-20" dirty="0">
                <a:latin typeface="Malgun Gothic"/>
                <a:cs typeface="Malgun Gothic"/>
              </a:rPr>
              <a:t>！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200" y="1371600"/>
            <a:ext cx="8763000" cy="250068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Welcome</a:t>
            </a:r>
            <a:r>
              <a:rPr sz="2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24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24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course</a:t>
            </a:r>
            <a:r>
              <a:rPr sz="24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2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rebuchet MS"/>
                <a:cs typeface="Trebuchet MS"/>
              </a:rPr>
              <a:t>Operating system</a:t>
            </a:r>
            <a:endParaRPr sz="2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24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this</a:t>
            </a:r>
            <a:r>
              <a:rPr sz="24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lecture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we</a:t>
            </a:r>
            <a:r>
              <a:rPr sz="24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will:</a:t>
            </a:r>
            <a:endParaRPr sz="2400" dirty="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1010"/>
              </a:spcBef>
            </a:pPr>
            <a:r>
              <a:rPr sz="1900" spc="1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spc="-80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Discuss</a:t>
            </a:r>
            <a:r>
              <a:rPr sz="2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some</a:t>
            </a:r>
            <a:r>
              <a:rPr sz="24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key</a:t>
            </a:r>
            <a:r>
              <a:rPr sz="24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administrative</a:t>
            </a:r>
            <a:r>
              <a:rPr sz="24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issues.</a:t>
            </a:r>
            <a:endParaRPr sz="2400" dirty="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1000"/>
              </a:spcBef>
            </a:pPr>
            <a:r>
              <a:rPr sz="1900" spc="1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spc="-70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Describe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what</a:t>
            </a:r>
            <a:r>
              <a:rPr sz="2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we’re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going</a:t>
            </a:r>
            <a:r>
              <a:rPr sz="24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2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do</a:t>
            </a:r>
            <a:r>
              <a:rPr sz="2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2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this</a:t>
            </a:r>
            <a:r>
              <a:rPr sz="24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course</a:t>
            </a:r>
            <a:endParaRPr lang="en-US" sz="2400" spc="-10" dirty="0">
              <a:solidFill>
                <a:srgbClr val="404040"/>
              </a:solidFill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1000"/>
              </a:spcBef>
            </a:pPr>
            <a:r>
              <a:rPr lang="en-US" sz="2400" spc="-20" dirty="0">
                <a:solidFill>
                  <a:srgbClr val="404040"/>
                </a:solidFill>
                <a:latin typeface="Trebuchet MS"/>
                <a:cs typeface="Trebuchet MS"/>
              </a:rPr>
              <a:t>and overview</a:t>
            </a:r>
            <a:r>
              <a:rPr lang="en-US" sz="2400" spc="-10" dirty="0">
                <a:solidFill>
                  <a:srgbClr val="404040"/>
                </a:solidFill>
                <a:latin typeface="Trebuchet MS"/>
                <a:cs typeface="Trebuchet MS"/>
              </a:rPr>
              <a:t> of Operating Systems</a:t>
            </a:r>
            <a:endParaRPr sz="24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310" y="304800"/>
            <a:ext cx="4613910" cy="580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Teaching</a:t>
            </a:r>
            <a:r>
              <a:rPr spc="-229" dirty="0"/>
              <a:t> </a:t>
            </a:r>
            <a:r>
              <a:rPr spc="-10" dirty="0"/>
              <a:t>Staff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310" y="1143000"/>
            <a:ext cx="8458200" cy="4782078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400" spc="-90" dirty="0">
                <a:solidFill>
                  <a:srgbClr val="404040"/>
                </a:solidFill>
                <a:latin typeface="Trebuchet MS"/>
                <a:cs typeface="Trebuchet MS"/>
              </a:rPr>
              <a:t>Dr. </a:t>
            </a:r>
            <a:r>
              <a:rPr lang="en-US" sz="2400" spc="-10" dirty="0">
                <a:solidFill>
                  <a:srgbClr val="404040"/>
                </a:solidFill>
                <a:latin typeface="Trebuchet MS"/>
                <a:cs typeface="Trebuchet MS"/>
              </a:rPr>
              <a:t>Junaid Abdul Wahid (PhD in Software Engineering)</a:t>
            </a:r>
            <a:endParaRPr sz="2400" dirty="0">
              <a:latin typeface="SimSun"/>
              <a:cs typeface="SimSun"/>
            </a:endParaRPr>
          </a:p>
          <a:p>
            <a:pPr marL="469900">
              <a:lnSpc>
                <a:spcPct val="100000"/>
              </a:lnSpc>
              <a:spcBef>
                <a:spcPts val="1095"/>
              </a:spcBef>
            </a:pPr>
            <a:r>
              <a:rPr sz="1900" spc="1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spc="-5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Email: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en-US" sz="2400" u="sng" spc="-10" dirty="0">
                <a:solidFill>
                  <a:srgbClr val="99C93B"/>
                </a:solidFill>
                <a:uFill>
                  <a:solidFill>
                    <a:srgbClr val="99C93B"/>
                  </a:solidFill>
                </a:uFill>
                <a:latin typeface="Trebuchet MS"/>
                <a:cs typeface="Trebuchet MS"/>
                <a:hlinkClick r:id="rId2"/>
              </a:rPr>
              <a:t>junaid_wahid</a:t>
            </a:r>
            <a:r>
              <a:rPr sz="2400" u="sng" spc="-10" dirty="0">
                <a:solidFill>
                  <a:srgbClr val="99C93B"/>
                </a:solidFill>
                <a:uFill>
                  <a:solidFill>
                    <a:srgbClr val="99C93B"/>
                  </a:solidFill>
                </a:uFill>
                <a:latin typeface="Trebuchet MS"/>
                <a:cs typeface="Trebuchet MS"/>
                <a:hlinkClick r:id="rId2"/>
              </a:rPr>
              <a:t>@zzu.edu.cn</a:t>
            </a:r>
            <a:endParaRPr sz="2400" dirty="0">
              <a:latin typeface="Trebuchet MS"/>
              <a:cs typeface="Trebuchet MS"/>
            </a:endParaRPr>
          </a:p>
          <a:p>
            <a:pPr>
              <a:spcBef>
                <a:spcPts val="2095"/>
              </a:spcBef>
            </a:pPr>
            <a:r>
              <a:rPr lang="fr-FR" sz="1900" spc="165" dirty="0">
                <a:solidFill>
                  <a:srgbClr val="90C225"/>
                </a:solidFill>
                <a:latin typeface="Lucida Sans Unicode"/>
                <a:cs typeface="Lucida Sans Unicode"/>
              </a:rPr>
              <a:t>     ▶</a:t>
            </a:r>
            <a:r>
              <a:rPr lang="fr-FR" sz="1900" spc="-55" dirty="0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lang="fr-FR" sz="2400" dirty="0">
                <a:solidFill>
                  <a:srgbClr val="404040"/>
                </a:solidFill>
                <a:latin typeface="Trebuchet MS"/>
                <a:cs typeface="Trebuchet MS"/>
              </a:rPr>
              <a:t>Research Directions:  Data Science, AI, NLP, Multimodal</a:t>
            </a:r>
          </a:p>
          <a:p>
            <a:pPr>
              <a:spcBef>
                <a:spcPts val="2095"/>
              </a:spcBef>
            </a:pPr>
            <a:endParaRPr sz="2400" dirty="0">
              <a:latin typeface="Trebuchet MS"/>
              <a:cs typeface="Trebuchet MS"/>
            </a:endParaRPr>
          </a:p>
          <a:p>
            <a:pPr marL="756285" marR="5080" indent="-287020">
              <a:lnSpc>
                <a:spcPct val="100000"/>
              </a:lnSpc>
            </a:pPr>
            <a:r>
              <a:rPr sz="1900" spc="1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spc="-7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If</a:t>
            </a:r>
            <a:r>
              <a:rPr sz="24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you</a:t>
            </a:r>
            <a:r>
              <a:rPr sz="24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have</a:t>
            </a:r>
            <a:r>
              <a:rPr sz="24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any</a:t>
            </a:r>
            <a:r>
              <a:rPr sz="24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questions</a:t>
            </a:r>
            <a:r>
              <a:rPr sz="24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regarding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this</a:t>
            </a:r>
            <a:r>
              <a:rPr sz="24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course</a:t>
            </a:r>
            <a:r>
              <a:rPr sz="2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sz="24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cannot</a:t>
            </a:r>
            <a:r>
              <a:rPr sz="24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find</a:t>
            </a:r>
            <a:r>
              <a:rPr sz="24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Trebuchet MS"/>
                <a:cs typeface="Trebuchet MS"/>
              </a:rPr>
              <a:t>the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answer</a:t>
            </a:r>
            <a:r>
              <a:rPr sz="24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everywhere</a:t>
            </a:r>
            <a:endParaRPr sz="2400" dirty="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1000"/>
              </a:spcBef>
            </a:pPr>
            <a:r>
              <a:rPr sz="1900" spc="1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spc="-90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Use</a:t>
            </a:r>
            <a:r>
              <a:rPr sz="24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24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discussion</a:t>
            </a:r>
            <a:r>
              <a:rPr sz="24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group</a:t>
            </a:r>
            <a:r>
              <a:rPr lang="en-US" sz="2400" spc="-10" dirty="0">
                <a:solidFill>
                  <a:srgbClr val="404040"/>
                </a:solidFill>
                <a:latin typeface="Trebuchet MS"/>
                <a:cs typeface="Trebuchet MS"/>
              </a:rPr>
              <a:t> (will tell later)</a:t>
            </a:r>
            <a:endParaRPr sz="2400" dirty="0">
              <a:latin typeface="Trebuchet MS"/>
              <a:cs typeface="Trebuchet MS"/>
            </a:endParaRPr>
          </a:p>
          <a:p>
            <a:pPr marL="756285" marR="361950" indent="-287020">
              <a:lnSpc>
                <a:spcPct val="100000"/>
              </a:lnSpc>
              <a:spcBef>
                <a:spcPts val="1010"/>
              </a:spcBef>
            </a:pPr>
            <a:r>
              <a:rPr sz="1900" spc="1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spc="-100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For</a:t>
            </a:r>
            <a:r>
              <a:rPr sz="24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personal</a:t>
            </a:r>
            <a:r>
              <a:rPr sz="24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issues,</a:t>
            </a:r>
            <a:r>
              <a:rPr sz="24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please</a:t>
            </a:r>
            <a:r>
              <a:rPr sz="24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send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me</a:t>
            </a:r>
            <a:r>
              <a:rPr sz="24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an</a:t>
            </a:r>
            <a:r>
              <a:rPr sz="24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email</a:t>
            </a:r>
            <a:r>
              <a:rPr sz="24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with</a:t>
            </a:r>
            <a:r>
              <a:rPr sz="2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[PP]</a:t>
            </a:r>
            <a:r>
              <a:rPr sz="2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2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subject line.</a:t>
            </a:r>
            <a:endParaRPr sz="24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200" y="1676400"/>
            <a:ext cx="7713345" cy="4648200"/>
            <a:chOff x="0" y="1694688"/>
            <a:chExt cx="7713345" cy="51638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9955" y="1694688"/>
              <a:ext cx="7303008" cy="44485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585466" y="2878074"/>
              <a:ext cx="1033780" cy="742315"/>
            </a:xfrm>
            <a:custGeom>
              <a:avLst/>
              <a:gdLst/>
              <a:ahLst/>
              <a:cxnLst/>
              <a:rect l="l" t="t" r="r" b="b"/>
              <a:pathLst>
                <a:path w="1033779" h="742314">
                  <a:moveTo>
                    <a:pt x="1033271" y="0"/>
                  </a:moveTo>
                  <a:lnTo>
                    <a:pt x="0" y="0"/>
                  </a:lnTo>
                  <a:lnTo>
                    <a:pt x="0" y="742188"/>
                  </a:lnTo>
                  <a:lnTo>
                    <a:pt x="1033271" y="742188"/>
                  </a:lnTo>
                  <a:lnTo>
                    <a:pt x="10332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85466" y="2878074"/>
              <a:ext cx="1033780" cy="742315"/>
            </a:xfrm>
            <a:custGeom>
              <a:avLst/>
              <a:gdLst/>
              <a:ahLst/>
              <a:cxnLst/>
              <a:rect l="l" t="t" r="r" b="b"/>
              <a:pathLst>
                <a:path w="1033779" h="742314">
                  <a:moveTo>
                    <a:pt x="0" y="742188"/>
                  </a:moveTo>
                  <a:lnTo>
                    <a:pt x="1033271" y="742188"/>
                  </a:lnTo>
                  <a:lnTo>
                    <a:pt x="1033271" y="0"/>
                  </a:lnTo>
                  <a:lnTo>
                    <a:pt x="0" y="0"/>
                  </a:lnTo>
                  <a:lnTo>
                    <a:pt x="0" y="742188"/>
                  </a:lnTo>
                  <a:close/>
                </a:path>
              </a:pathLst>
            </a:custGeom>
            <a:ln w="1981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79697" y="2878074"/>
              <a:ext cx="1033780" cy="742315"/>
            </a:xfrm>
            <a:custGeom>
              <a:avLst/>
              <a:gdLst/>
              <a:ahLst/>
              <a:cxnLst/>
              <a:rect l="l" t="t" r="r" b="b"/>
              <a:pathLst>
                <a:path w="1033779" h="742314">
                  <a:moveTo>
                    <a:pt x="1033272" y="0"/>
                  </a:moveTo>
                  <a:lnTo>
                    <a:pt x="0" y="0"/>
                  </a:lnTo>
                  <a:lnTo>
                    <a:pt x="0" y="742188"/>
                  </a:lnTo>
                  <a:lnTo>
                    <a:pt x="1033272" y="742188"/>
                  </a:lnTo>
                  <a:lnTo>
                    <a:pt x="10332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79697" y="2878074"/>
              <a:ext cx="1033780" cy="742315"/>
            </a:xfrm>
            <a:custGeom>
              <a:avLst/>
              <a:gdLst/>
              <a:ahLst/>
              <a:cxnLst/>
              <a:rect l="l" t="t" r="r" b="b"/>
              <a:pathLst>
                <a:path w="1033779" h="742314">
                  <a:moveTo>
                    <a:pt x="0" y="742188"/>
                  </a:moveTo>
                  <a:lnTo>
                    <a:pt x="1033272" y="742188"/>
                  </a:lnTo>
                  <a:lnTo>
                    <a:pt x="1033272" y="0"/>
                  </a:lnTo>
                  <a:lnTo>
                    <a:pt x="0" y="0"/>
                  </a:lnTo>
                  <a:lnTo>
                    <a:pt x="0" y="742188"/>
                  </a:lnTo>
                  <a:close/>
                </a:path>
              </a:pathLst>
            </a:custGeom>
            <a:ln w="1981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810505" y="2878074"/>
              <a:ext cx="1033780" cy="742315"/>
            </a:xfrm>
            <a:custGeom>
              <a:avLst/>
              <a:gdLst/>
              <a:ahLst/>
              <a:cxnLst/>
              <a:rect l="l" t="t" r="r" b="b"/>
              <a:pathLst>
                <a:path w="1033779" h="742314">
                  <a:moveTo>
                    <a:pt x="1033272" y="0"/>
                  </a:moveTo>
                  <a:lnTo>
                    <a:pt x="0" y="0"/>
                  </a:lnTo>
                  <a:lnTo>
                    <a:pt x="0" y="742188"/>
                  </a:lnTo>
                  <a:lnTo>
                    <a:pt x="1033272" y="742188"/>
                  </a:lnTo>
                  <a:lnTo>
                    <a:pt x="10332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810505" y="2878074"/>
              <a:ext cx="1033780" cy="742315"/>
            </a:xfrm>
            <a:custGeom>
              <a:avLst/>
              <a:gdLst/>
              <a:ahLst/>
              <a:cxnLst/>
              <a:rect l="l" t="t" r="r" b="b"/>
              <a:pathLst>
                <a:path w="1033779" h="742314">
                  <a:moveTo>
                    <a:pt x="0" y="742188"/>
                  </a:moveTo>
                  <a:lnTo>
                    <a:pt x="1033272" y="742188"/>
                  </a:lnTo>
                  <a:lnTo>
                    <a:pt x="1033272" y="0"/>
                  </a:lnTo>
                  <a:lnTo>
                    <a:pt x="0" y="0"/>
                  </a:lnTo>
                  <a:lnTo>
                    <a:pt x="0" y="742188"/>
                  </a:lnTo>
                  <a:close/>
                </a:path>
              </a:pathLst>
            </a:custGeom>
            <a:ln w="1981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19978" y="2878074"/>
              <a:ext cx="1033780" cy="742315"/>
            </a:xfrm>
            <a:custGeom>
              <a:avLst/>
              <a:gdLst/>
              <a:ahLst/>
              <a:cxnLst/>
              <a:rect l="l" t="t" r="r" b="b"/>
              <a:pathLst>
                <a:path w="1033779" h="742314">
                  <a:moveTo>
                    <a:pt x="1033272" y="0"/>
                  </a:moveTo>
                  <a:lnTo>
                    <a:pt x="0" y="0"/>
                  </a:lnTo>
                  <a:lnTo>
                    <a:pt x="0" y="742188"/>
                  </a:lnTo>
                  <a:lnTo>
                    <a:pt x="1033272" y="742188"/>
                  </a:lnTo>
                  <a:lnTo>
                    <a:pt x="10332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919978" y="2878074"/>
              <a:ext cx="1033780" cy="742315"/>
            </a:xfrm>
            <a:custGeom>
              <a:avLst/>
              <a:gdLst/>
              <a:ahLst/>
              <a:cxnLst/>
              <a:rect l="l" t="t" r="r" b="b"/>
              <a:pathLst>
                <a:path w="1033779" h="742314">
                  <a:moveTo>
                    <a:pt x="0" y="742188"/>
                  </a:moveTo>
                  <a:lnTo>
                    <a:pt x="1033272" y="742188"/>
                  </a:lnTo>
                  <a:lnTo>
                    <a:pt x="1033272" y="0"/>
                  </a:lnTo>
                  <a:lnTo>
                    <a:pt x="0" y="0"/>
                  </a:lnTo>
                  <a:lnTo>
                    <a:pt x="0" y="742188"/>
                  </a:lnTo>
                  <a:close/>
                </a:path>
              </a:pathLst>
            </a:custGeom>
            <a:ln w="1981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756310" y="629158"/>
            <a:ext cx="2367890" cy="580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Schedule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062621" y="1999307"/>
            <a:ext cx="2758440" cy="27263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Lectures</a:t>
            </a:r>
            <a:r>
              <a:rPr sz="2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are</a:t>
            </a:r>
            <a:r>
              <a:rPr sz="24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held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every</a:t>
            </a:r>
            <a:r>
              <a:rPr sz="24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en-US" sz="2400" spc="-10" dirty="0">
                <a:solidFill>
                  <a:srgbClr val="404040"/>
                </a:solidFill>
                <a:latin typeface="Trebuchet MS"/>
                <a:cs typeface="Trebuchet MS"/>
              </a:rPr>
              <a:t>Tuesday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en-US" sz="2400" spc="-10" dirty="0">
                <a:solidFill>
                  <a:srgbClr val="404040"/>
                </a:solidFill>
                <a:latin typeface="Trebuchet MS"/>
                <a:cs typeface="Trebuchet MS"/>
              </a:rPr>
              <a:t>and Thursday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endParaRPr sz="2400" dirty="0">
              <a:latin typeface="Trebuchet MS"/>
              <a:cs typeface="Trebuchet MS"/>
            </a:endParaRPr>
          </a:p>
          <a:p>
            <a:pPr marL="355600" marR="153035" indent="-3429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lang="en-US" sz="2400" dirty="0">
                <a:solidFill>
                  <a:srgbClr val="404040"/>
                </a:solidFill>
                <a:latin typeface="Trebuchet MS"/>
                <a:cs typeface="Trebuchet MS"/>
              </a:rPr>
              <a:t>Discussion session 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will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be</a:t>
            </a:r>
            <a:r>
              <a:rPr sz="2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scheduled </a:t>
            </a:r>
            <a:r>
              <a:rPr lang="en-US" sz="2400" spc="-10" dirty="0">
                <a:solidFill>
                  <a:srgbClr val="404040"/>
                </a:solidFill>
                <a:latin typeface="Trebuchet MS"/>
                <a:cs typeface="Trebuchet MS"/>
              </a:rPr>
              <a:t>on Thursday.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46424" y="1999307"/>
            <a:ext cx="1033780" cy="742315"/>
          </a:xfrm>
          <a:prstGeom prst="rect">
            <a:avLst/>
          </a:prstGeom>
          <a:ln w="38100">
            <a:solidFill>
              <a:srgbClr val="688E18"/>
            </a:solidFill>
          </a:ln>
        </p:spPr>
        <p:txBody>
          <a:bodyPr vert="horz" wrap="square" lIns="0" tIns="226060" rIns="0" bIns="0" rtlCol="0">
            <a:spAutoFit/>
          </a:bodyPr>
          <a:lstStyle/>
          <a:p>
            <a:pPr marL="139700">
              <a:lnSpc>
                <a:spcPct val="100000"/>
              </a:lnSpc>
              <a:spcBef>
                <a:spcPts val="1780"/>
              </a:spcBef>
            </a:pPr>
            <a:r>
              <a:rPr sz="1800" spc="-10" dirty="0">
                <a:latin typeface="Trebuchet MS"/>
                <a:cs typeface="Trebuchet MS"/>
              </a:rPr>
              <a:t>Lecture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53330" y="4166336"/>
            <a:ext cx="1033780" cy="757900"/>
          </a:xfrm>
          <a:prstGeom prst="rect">
            <a:avLst/>
          </a:prstGeom>
          <a:ln w="38100">
            <a:solidFill>
              <a:srgbClr val="688E18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50"/>
              </a:spcBef>
            </a:pPr>
            <a:r>
              <a:rPr lang="en-US" sz="1600" spc="-10" dirty="0">
                <a:latin typeface="Trebuchet MS"/>
                <a:cs typeface="Trebuchet MS"/>
              </a:rPr>
              <a:t>Lecture/ Discussion</a:t>
            </a:r>
            <a:endParaRPr sz="1600" dirty="0">
              <a:latin typeface="Trebuchet MS"/>
              <a:cs typeface="Trebuchet MS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endParaRPr sz="16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138" y="457200"/>
            <a:ext cx="4882490" cy="580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Academic</a:t>
            </a:r>
            <a:r>
              <a:rPr spc="-95" dirty="0"/>
              <a:t> </a:t>
            </a:r>
            <a:r>
              <a:rPr spc="-10" dirty="0"/>
              <a:t>Honesty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138" y="1219200"/>
            <a:ext cx="8768862" cy="464820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95"/>
              </a:spcBef>
            </a:pPr>
            <a:r>
              <a:rPr sz="1600" spc="12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spc="145" dirty="0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Plagiarism</a:t>
            </a:r>
            <a:endParaRPr sz="2000" dirty="0">
              <a:latin typeface="Trebuchet MS"/>
              <a:cs typeface="Trebuchet MS"/>
            </a:endParaRPr>
          </a:p>
          <a:p>
            <a:pPr marL="469900" algn="just">
              <a:lnSpc>
                <a:spcPct val="100000"/>
              </a:lnSpc>
              <a:spcBef>
                <a:spcPts val="994"/>
              </a:spcBef>
            </a:pPr>
            <a:r>
              <a:rPr sz="1600" spc="12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spc="31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Using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another</a:t>
            </a:r>
            <a:r>
              <a:rPr sz="20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person’s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ideas,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designs,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words</a:t>
            </a:r>
            <a:r>
              <a:rPr sz="20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or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works</a:t>
            </a:r>
            <a:r>
              <a:rPr sz="20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without</a:t>
            </a:r>
            <a:endParaRPr sz="2000" dirty="0">
              <a:latin typeface="Trebuchet MS"/>
              <a:cs typeface="Trebuchet MS"/>
            </a:endParaRPr>
          </a:p>
          <a:p>
            <a:pPr marL="756285" algn="just">
              <a:lnSpc>
                <a:spcPct val="100000"/>
              </a:lnSpc>
            </a:pP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appropriate</a:t>
            </a:r>
            <a:r>
              <a:rPr sz="20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acknowledgment.</a:t>
            </a:r>
            <a:endParaRPr sz="2000" dirty="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1000"/>
              </a:spcBef>
            </a:pPr>
            <a:r>
              <a:rPr sz="1600" spc="12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spc="145" dirty="0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Collusion</a:t>
            </a:r>
            <a:endParaRPr sz="2000" dirty="0">
              <a:latin typeface="Trebuchet MS"/>
              <a:cs typeface="Trebuchet MS"/>
            </a:endParaRPr>
          </a:p>
          <a:p>
            <a:pPr marL="756285" marR="264795" indent="-287020" algn="just">
              <a:lnSpc>
                <a:spcPct val="100000"/>
              </a:lnSpc>
              <a:spcBef>
                <a:spcPts val="1005"/>
              </a:spcBef>
            </a:pPr>
            <a:r>
              <a:rPr sz="1600" spc="12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spc="33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Another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person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assisting</a:t>
            </a: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production</a:t>
            </a:r>
            <a:r>
              <a:rPr sz="20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an</a:t>
            </a:r>
            <a:r>
              <a:rPr sz="20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assessment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submission</a:t>
            </a:r>
            <a:r>
              <a:rPr sz="20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without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20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express</a:t>
            </a:r>
            <a:r>
              <a:rPr sz="20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requirement,</a:t>
            </a:r>
            <a:r>
              <a:rPr sz="20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or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consent,</a:t>
            </a:r>
            <a:r>
              <a:rPr sz="20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Trebuchet MS"/>
                <a:cs typeface="Trebuchet MS"/>
              </a:rPr>
              <a:t>or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knowledge</a:t>
            </a:r>
            <a:r>
              <a:rPr sz="20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20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20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assessor.</a:t>
            </a:r>
            <a:endParaRPr sz="2000" dirty="0">
              <a:latin typeface="Trebuchet MS"/>
              <a:cs typeface="Trebuchet MS"/>
            </a:endParaRPr>
          </a:p>
          <a:p>
            <a:pPr marL="423545" marR="1234440" indent="-3175">
              <a:lnSpc>
                <a:spcPct val="100000"/>
              </a:lnSpc>
              <a:spcBef>
                <a:spcPts val="1895"/>
              </a:spcBef>
              <a:buSzPct val="96428"/>
              <a:buAutoNum type="arabicPeriod"/>
              <a:tabLst>
                <a:tab pos="698500" algn="l"/>
                <a:tab pos="5502275" algn="l"/>
              </a:tabLst>
            </a:pPr>
            <a:r>
              <a:rPr sz="2800" b="1" dirty="0">
                <a:latin typeface="Calibri"/>
                <a:cs typeface="Calibri"/>
              </a:rPr>
              <a:t>	</a:t>
            </a:r>
            <a:r>
              <a:rPr lang="en-US" sz="2800" b="1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Do</a:t>
            </a:r>
            <a:r>
              <a:rPr sz="2800" b="1" spc="-3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not</a:t>
            </a:r>
            <a:r>
              <a:rPr sz="2800" b="1" spc="-3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submit</a:t>
            </a:r>
            <a:r>
              <a:rPr sz="2800" b="1" spc="-3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any</a:t>
            </a:r>
            <a:r>
              <a:rPr sz="2800" b="1" spc="-2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work</a:t>
            </a:r>
            <a:r>
              <a:rPr sz="2800" b="1" spc="-2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or</a:t>
            </a:r>
            <a:r>
              <a:rPr sz="2800" b="1" spc="-35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part</a:t>
            </a:r>
            <a:r>
              <a:rPr sz="2800" b="1" dirty="0">
                <a:latin typeface="Calibri"/>
                <a:cs typeface="Calibri"/>
              </a:rPr>
              <a:t>	</a:t>
            </a:r>
            <a:r>
              <a:rPr sz="2800" b="1" spc="-20" dirty="0">
                <a:latin typeface="Calibri"/>
                <a:cs typeface="Calibri"/>
              </a:rPr>
              <a:t>there</a:t>
            </a:r>
            <a:r>
              <a:rPr lang="en-US" sz="2800" b="1" spc="-20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of </a:t>
            </a:r>
            <a:r>
              <a:rPr sz="2800" b="1" dirty="0">
                <a:latin typeface="Calibri"/>
                <a:cs typeface="Calibri"/>
              </a:rPr>
              <a:t>which</a:t>
            </a:r>
            <a:r>
              <a:rPr sz="2800" b="1" spc="-3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is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not</a:t>
            </a:r>
            <a:r>
              <a:rPr sz="2800" b="1" spc="-2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yours.</a:t>
            </a:r>
            <a:endParaRPr sz="2800" dirty="0">
              <a:latin typeface="Calibri"/>
              <a:cs typeface="Calibri"/>
            </a:endParaRPr>
          </a:p>
          <a:p>
            <a:pPr marL="423545" marR="707390" indent="-3175">
              <a:lnSpc>
                <a:spcPts val="3379"/>
              </a:lnSpc>
              <a:spcBef>
                <a:spcPts val="85"/>
              </a:spcBef>
              <a:buSzPct val="96428"/>
              <a:buAutoNum type="arabicPeriod"/>
              <a:tabLst>
                <a:tab pos="697865" algn="l"/>
              </a:tabLst>
            </a:pPr>
            <a:r>
              <a:rPr lang="en-US" sz="2800" b="1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Do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not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submit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any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work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for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which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you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have </a:t>
            </a:r>
            <a:r>
              <a:rPr sz="2800" b="1" dirty="0">
                <a:latin typeface="Calibri"/>
                <a:cs typeface="Calibri"/>
              </a:rPr>
              <a:t>received</a:t>
            </a:r>
            <a:r>
              <a:rPr sz="2800" b="1" spc="-13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unfair</a:t>
            </a:r>
            <a:r>
              <a:rPr sz="2800" b="1" spc="-13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assistance.</a:t>
            </a:r>
            <a:endParaRPr sz="2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15453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Academic</a:t>
            </a:r>
            <a:r>
              <a:rPr spc="-95" dirty="0"/>
              <a:t> </a:t>
            </a:r>
            <a:r>
              <a:rPr spc="-10" dirty="0"/>
              <a:t>Honesty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310" y="1647190"/>
            <a:ext cx="8325484" cy="4549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Assignment</a:t>
            </a:r>
            <a:r>
              <a:rPr sz="2400" spc="-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work</a:t>
            </a:r>
            <a:r>
              <a:rPr sz="2400" spc="-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helps</a:t>
            </a:r>
            <a:r>
              <a:rPr sz="24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2400" spc="-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develop</a:t>
            </a:r>
            <a:r>
              <a:rPr sz="2400" spc="-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your</a:t>
            </a:r>
            <a:r>
              <a:rPr sz="24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understanding</a:t>
            </a:r>
            <a:r>
              <a:rPr sz="24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Trebuchet MS"/>
                <a:cs typeface="Trebuchet MS"/>
              </a:rPr>
              <a:t>and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ability</a:t>
            </a:r>
            <a:r>
              <a:rPr sz="24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24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apply</a:t>
            </a:r>
            <a:r>
              <a:rPr sz="24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techniques.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24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best</a:t>
            </a:r>
            <a:r>
              <a:rPr sz="2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way</a:t>
            </a:r>
            <a:r>
              <a:rPr sz="2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24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avoid</a:t>
            </a:r>
            <a:r>
              <a:rPr sz="24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the</a:t>
            </a:r>
            <a:r>
              <a:rPr sz="2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need</a:t>
            </a:r>
            <a:r>
              <a:rPr sz="24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24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plagiarize</a:t>
            </a:r>
            <a:r>
              <a:rPr sz="24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is</a:t>
            </a:r>
            <a:r>
              <a:rPr sz="2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24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start</a:t>
            </a:r>
            <a:endParaRPr sz="240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</a:pP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preparing</a:t>
            </a:r>
            <a:r>
              <a:rPr sz="24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your</a:t>
            </a:r>
            <a:r>
              <a:rPr sz="24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assignments</a:t>
            </a:r>
            <a:r>
              <a:rPr sz="24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45" dirty="0">
                <a:solidFill>
                  <a:srgbClr val="404040"/>
                </a:solidFill>
                <a:latin typeface="Trebuchet MS"/>
                <a:cs typeface="Trebuchet MS"/>
              </a:rPr>
              <a:t>early.</a:t>
            </a:r>
            <a:r>
              <a:rPr sz="24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Don’t</a:t>
            </a:r>
            <a:r>
              <a:rPr sz="24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let</a:t>
            </a:r>
            <a:r>
              <a:rPr sz="2400" spc="-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your</a:t>
            </a:r>
            <a:r>
              <a:rPr sz="24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work</a:t>
            </a:r>
            <a:r>
              <a:rPr sz="24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Trebuchet MS"/>
                <a:cs typeface="Trebuchet MS"/>
              </a:rPr>
              <a:t>get</a:t>
            </a:r>
            <a:endParaRPr sz="240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on</a:t>
            </a:r>
            <a:r>
              <a:rPr sz="24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top</a:t>
            </a:r>
            <a:r>
              <a:rPr sz="24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you.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539F20"/>
                </a:solidFill>
                <a:latin typeface="Trebuchet MS"/>
                <a:cs typeface="Trebuchet MS"/>
              </a:rPr>
              <a:t>DOs</a:t>
            </a:r>
            <a:r>
              <a:rPr sz="2000" spc="-15" dirty="0">
                <a:solidFill>
                  <a:srgbClr val="539F2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539F20"/>
                </a:solidFill>
                <a:latin typeface="Trebuchet MS"/>
                <a:cs typeface="Trebuchet MS"/>
              </a:rPr>
              <a:t>and</a:t>
            </a:r>
            <a:r>
              <a:rPr sz="2000" spc="-20" dirty="0">
                <a:solidFill>
                  <a:srgbClr val="539F2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539F20"/>
                </a:solidFill>
                <a:latin typeface="Trebuchet MS"/>
                <a:cs typeface="Trebuchet MS"/>
              </a:rPr>
              <a:t>DON’Ts</a:t>
            </a:r>
            <a:endParaRPr sz="20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000" dirty="0">
                <a:latin typeface="Trebuchet MS"/>
                <a:cs typeface="Trebuchet MS"/>
              </a:rPr>
              <a:t>DO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your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own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work.</a:t>
            </a:r>
            <a:endParaRPr sz="20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000" dirty="0">
                <a:latin typeface="Trebuchet MS"/>
                <a:cs typeface="Trebuchet MS"/>
              </a:rPr>
              <a:t>DON’T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copy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others’</a:t>
            </a:r>
            <a:r>
              <a:rPr sz="2000" spc="-114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work.</a:t>
            </a:r>
            <a:endParaRPr sz="20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000" dirty="0">
                <a:latin typeface="Trebuchet MS"/>
                <a:cs typeface="Trebuchet MS"/>
              </a:rPr>
              <a:t>DON’T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let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others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copy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your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work.</a:t>
            </a:r>
            <a:endParaRPr sz="20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000" dirty="0">
                <a:latin typeface="Trebuchet MS"/>
                <a:cs typeface="Trebuchet MS"/>
              </a:rPr>
              <a:t>DO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feel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free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discuss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problems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with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your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friends.</a:t>
            </a:r>
            <a:endParaRPr sz="20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000" dirty="0">
                <a:latin typeface="Trebuchet MS"/>
                <a:cs typeface="Trebuchet MS"/>
              </a:rPr>
              <a:t>DO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seek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help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from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lecturer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when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stuck.</a:t>
            </a:r>
            <a:endParaRPr sz="20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000" dirty="0">
                <a:latin typeface="Trebuchet MS"/>
                <a:cs typeface="Trebuchet MS"/>
              </a:rPr>
              <a:t>DO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start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your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assignments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early.</a:t>
            </a:r>
            <a:endParaRPr sz="200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919839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Late</a:t>
            </a:r>
            <a:r>
              <a:rPr spc="-45" dirty="0"/>
              <a:t> </a:t>
            </a:r>
            <a:r>
              <a:rPr dirty="0"/>
              <a:t>submission</a:t>
            </a:r>
            <a:r>
              <a:rPr spc="-20" dirty="0"/>
              <a:t> </a:t>
            </a:r>
            <a:r>
              <a:rPr spc="-10" dirty="0"/>
              <a:t>policy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6310" y="2058669"/>
            <a:ext cx="7992109" cy="384111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400" spc="-70" dirty="0">
                <a:solidFill>
                  <a:srgbClr val="404040"/>
                </a:solidFill>
                <a:latin typeface="Trebuchet MS"/>
                <a:cs typeface="Trebuchet MS"/>
              </a:rPr>
              <a:t>You</a:t>
            </a:r>
            <a:r>
              <a:rPr sz="24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should</a:t>
            </a:r>
            <a:r>
              <a:rPr sz="24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hand</a:t>
            </a:r>
            <a:r>
              <a:rPr sz="24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your</a:t>
            </a:r>
            <a:r>
              <a:rPr sz="24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coursework</a:t>
            </a:r>
            <a:r>
              <a:rPr sz="24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2400" spc="-5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on</a:t>
            </a:r>
            <a:r>
              <a:rPr sz="24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time.</a:t>
            </a:r>
            <a:endParaRPr sz="2400">
              <a:latin typeface="Trebuchet MS"/>
              <a:cs typeface="Trebuchet MS"/>
            </a:endParaRPr>
          </a:p>
          <a:p>
            <a:pPr marL="355600" marR="5080" indent="-3429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If</a:t>
            </a:r>
            <a:r>
              <a:rPr sz="24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you</a:t>
            </a:r>
            <a:r>
              <a:rPr sz="2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hand</a:t>
            </a:r>
            <a:r>
              <a:rPr sz="24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2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your</a:t>
            </a:r>
            <a:r>
              <a:rPr sz="2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work</a:t>
            </a:r>
            <a:r>
              <a:rPr sz="2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late,</a:t>
            </a:r>
            <a:r>
              <a:rPr sz="2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your</a:t>
            </a:r>
            <a:r>
              <a:rPr sz="2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mark</a:t>
            </a:r>
            <a:r>
              <a:rPr sz="2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will</a:t>
            </a:r>
            <a:r>
              <a:rPr sz="24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be</a:t>
            </a:r>
            <a:r>
              <a:rPr sz="24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capped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based</a:t>
            </a:r>
            <a:r>
              <a:rPr sz="24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on</a:t>
            </a:r>
            <a:r>
              <a:rPr sz="2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how</a:t>
            </a:r>
            <a:r>
              <a:rPr sz="24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many</a:t>
            </a:r>
            <a:r>
              <a:rPr sz="24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days</a:t>
            </a:r>
            <a:r>
              <a:rPr sz="24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late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it</a:t>
            </a:r>
            <a:r>
              <a:rPr sz="2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Trebuchet MS"/>
                <a:cs typeface="Trebuchet MS"/>
              </a:rPr>
              <a:t>is:</a:t>
            </a:r>
            <a:endParaRPr sz="24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1010"/>
              </a:spcBef>
            </a:pPr>
            <a:r>
              <a:rPr sz="1900" spc="1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spc="-70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1</a:t>
            </a:r>
            <a:r>
              <a:rPr sz="2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day</a:t>
            </a:r>
            <a:r>
              <a:rPr sz="2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late-</a:t>
            </a:r>
            <a:r>
              <a:rPr sz="24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mark</a:t>
            </a:r>
            <a:r>
              <a:rPr sz="2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capped</a:t>
            </a:r>
            <a:r>
              <a:rPr sz="2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at</a:t>
            </a:r>
            <a:r>
              <a:rPr sz="24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Trebuchet MS"/>
                <a:cs typeface="Trebuchet MS"/>
              </a:rPr>
              <a:t>75%</a:t>
            </a:r>
            <a:endParaRPr sz="24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1000"/>
              </a:spcBef>
            </a:pPr>
            <a:r>
              <a:rPr sz="1900" spc="1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spc="-70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2</a:t>
            </a:r>
            <a:r>
              <a:rPr sz="2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day</a:t>
            </a:r>
            <a:r>
              <a:rPr sz="2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late-</a:t>
            </a:r>
            <a:r>
              <a:rPr sz="24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mark</a:t>
            </a:r>
            <a:r>
              <a:rPr sz="2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capped</a:t>
            </a:r>
            <a:r>
              <a:rPr sz="2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at</a:t>
            </a:r>
            <a:r>
              <a:rPr sz="24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Trebuchet MS"/>
                <a:cs typeface="Trebuchet MS"/>
              </a:rPr>
              <a:t>50%</a:t>
            </a:r>
            <a:endParaRPr sz="24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994"/>
              </a:spcBef>
            </a:pPr>
            <a:r>
              <a:rPr sz="1900" spc="1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spc="-65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3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day</a:t>
            </a:r>
            <a:r>
              <a:rPr sz="24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late-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mark</a:t>
            </a:r>
            <a:r>
              <a:rPr sz="24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capped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at</a:t>
            </a:r>
            <a:r>
              <a:rPr sz="2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Trebuchet MS"/>
                <a:cs typeface="Trebuchet MS"/>
              </a:rPr>
              <a:t>25%</a:t>
            </a:r>
            <a:endParaRPr sz="24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1010"/>
              </a:spcBef>
            </a:pPr>
            <a:r>
              <a:rPr sz="1900" spc="16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spc="-70" dirty="0">
                <a:solidFill>
                  <a:srgbClr val="90C225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More</a:t>
            </a:r>
            <a:r>
              <a:rPr sz="2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than</a:t>
            </a:r>
            <a:r>
              <a:rPr sz="24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3</a:t>
            </a:r>
            <a:r>
              <a:rPr sz="2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days</a:t>
            </a:r>
            <a:r>
              <a:rPr sz="24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late-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no</a:t>
            </a:r>
            <a:r>
              <a:rPr sz="24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marks</a:t>
            </a:r>
            <a:r>
              <a:rPr sz="24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available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Hand</a:t>
            </a:r>
            <a:r>
              <a:rPr sz="24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24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early!</a:t>
            </a:r>
            <a:endParaRPr sz="240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424756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Important!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70815" indent="-342900">
              <a:lnSpc>
                <a:spcPct val="100000"/>
              </a:lnSpc>
              <a:spcBef>
                <a:spcPts val="105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/>
              <a:t>Email</a:t>
            </a:r>
            <a:r>
              <a:rPr spc="-45" dirty="0"/>
              <a:t> </a:t>
            </a:r>
            <a:r>
              <a:rPr dirty="0"/>
              <a:t>is</a:t>
            </a:r>
            <a:r>
              <a:rPr spc="-10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formal</a:t>
            </a:r>
            <a:r>
              <a:rPr spc="-55" dirty="0"/>
              <a:t> </a:t>
            </a:r>
            <a:r>
              <a:rPr dirty="0"/>
              <a:t>communication</a:t>
            </a:r>
            <a:r>
              <a:rPr spc="-60" dirty="0"/>
              <a:t> </a:t>
            </a:r>
            <a:r>
              <a:rPr dirty="0"/>
              <a:t>method.</a:t>
            </a:r>
            <a:r>
              <a:rPr spc="-45" dirty="0"/>
              <a:t> </a:t>
            </a:r>
            <a:r>
              <a:rPr dirty="0"/>
              <a:t>Please</a:t>
            </a:r>
            <a:r>
              <a:rPr spc="-45" dirty="0"/>
              <a:t> </a:t>
            </a:r>
            <a:r>
              <a:rPr dirty="0"/>
              <a:t>check</a:t>
            </a:r>
            <a:r>
              <a:rPr spc="-4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spc="-10" dirty="0"/>
              <a:t>contents </a:t>
            </a:r>
            <a:r>
              <a:rPr dirty="0"/>
              <a:t>before</a:t>
            </a:r>
            <a:r>
              <a:rPr spc="-40" dirty="0"/>
              <a:t> </a:t>
            </a:r>
            <a:r>
              <a:rPr dirty="0"/>
              <a:t>sending</a:t>
            </a:r>
            <a:r>
              <a:rPr spc="-45" dirty="0"/>
              <a:t> </a:t>
            </a:r>
            <a:r>
              <a:rPr dirty="0"/>
              <a:t>your</a:t>
            </a:r>
            <a:r>
              <a:rPr spc="-25" dirty="0"/>
              <a:t> </a:t>
            </a:r>
            <a:r>
              <a:rPr dirty="0"/>
              <a:t>emails</a:t>
            </a:r>
            <a:r>
              <a:rPr spc="-30" dirty="0"/>
              <a:t> </a:t>
            </a:r>
            <a:r>
              <a:rPr dirty="0"/>
              <a:t>out.</a:t>
            </a:r>
            <a:r>
              <a:rPr spc="-15" dirty="0"/>
              <a:t> </a:t>
            </a:r>
            <a:r>
              <a:rPr dirty="0"/>
              <a:t>Do</a:t>
            </a:r>
            <a:r>
              <a:rPr spc="-25" dirty="0"/>
              <a:t> </a:t>
            </a:r>
            <a:r>
              <a:rPr dirty="0"/>
              <a:t>NOT</a:t>
            </a:r>
            <a:r>
              <a:rPr spc="-60" dirty="0"/>
              <a:t> </a:t>
            </a:r>
            <a:r>
              <a:rPr dirty="0"/>
              <a:t>flood</a:t>
            </a:r>
            <a:r>
              <a:rPr spc="-3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other's</a:t>
            </a:r>
            <a:r>
              <a:rPr spc="-30" dirty="0"/>
              <a:t> </a:t>
            </a:r>
            <a:r>
              <a:rPr spc="-10" dirty="0"/>
              <a:t>mailbox.</a:t>
            </a:r>
            <a:endParaRPr sz="16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995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/>
              <a:t>Please</a:t>
            </a:r>
            <a:r>
              <a:rPr spc="-60" dirty="0"/>
              <a:t> </a:t>
            </a:r>
            <a:r>
              <a:rPr dirty="0"/>
              <a:t>check</a:t>
            </a:r>
            <a:r>
              <a:rPr spc="-55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requirements</a:t>
            </a:r>
            <a:r>
              <a:rPr spc="-60" dirty="0"/>
              <a:t> </a:t>
            </a:r>
            <a:r>
              <a:rPr dirty="0"/>
              <a:t>for</a:t>
            </a:r>
            <a:r>
              <a:rPr spc="-50" dirty="0"/>
              <a:t> </a:t>
            </a:r>
            <a:r>
              <a:rPr dirty="0"/>
              <a:t>assignments</a:t>
            </a:r>
            <a:r>
              <a:rPr spc="-65" dirty="0"/>
              <a:t> </a:t>
            </a:r>
            <a:r>
              <a:rPr spc="-25" dirty="0"/>
              <a:t>carefully.</a:t>
            </a:r>
            <a:r>
              <a:rPr spc="-70" dirty="0"/>
              <a:t> </a:t>
            </a:r>
            <a:r>
              <a:rPr spc="-10" dirty="0"/>
              <a:t>Especially</a:t>
            </a:r>
            <a:endParaRPr sz="1600">
              <a:latin typeface="Lucida Sans Unicode"/>
              <a:cs typeface="Lucida Sans Unicode"/>
            </a:endParaRPr>
          </a:p>
          <a:p>
            <a:pPr marL="355600">
              <a:lnSpc>
                <a:spcPct val="100000"/>
              </a:lnSpc>
            </a:pPr>
            <a:r>
              <a:rPr dirty="0"/>
              <a:t>for</a:t>
            </a:r>
            <a:r>
              <a:rPr spc="-2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file</a:t>
            </a:r>
            <a:r>
              <a:rPr spc="-35" dirty="0"/>
              <a:t> </a:t>
            </a:r>
            <a:r>
              <a:rPr dirty="0"/>
              <a:t>type</a:t>
            </a:r>
            <a:r>
              <a:rPr spc="-2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submission</a:t>
            </a:r>
            <a:r>
              <a:rPr spc="-50" dirty="0"/>
              <a:t> </a:t>
            </a:r>
            <a:r>
              <a:rPr spc="-10" dirty="0"/>
              <a:t>time.</a:t>
            </a:r>
          </a:p>
          <a:p>
            <a:pPr marL="355600" marR="171450" indent="-3429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600" spc="75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6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/>
              <a:t>Do</a:t>
            </a:r>
            <a:r>
              <a:rPr spc="-20" dirty="0"/>
              <a:t> </a:t>
            </a:r>
            <a:r>
              <a:rPr dirty="0"/>
              <a:t>NOT</a:t>
            </a:r>
            <a:r>
              <a:rPr spc="-75" dirty="0"/>
              <a:t> </a:t>
            </a:r>
            <a:r>
              <a:rPr dirty="0"/>
              <a:t>directly</a:t>
            </a:r>
            <a:r>
              <a:rPr spc="-50" dirty="0"/>
              <a:t> </a:t>
            </a:r>
            <a:r>
              <a:rPr dirty="0"/>
              <a:t>copy</a:t>
            </a:r>
            <a:r>
              <a:rPr spc="-30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paste</a:t>
            </a:r>
            <a:r>
              <a:rPr spc="-4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contents</a:t>
            </a:r>
            <a:r>
              <a:rPr spc="-45" dirty="0"/>
              <a:t> </a:t>
            </a:r>
            <a:r>
              <a:rPr dirty="0"/>
              <a:t>that</a:t>
            </a:r>
            <a:r>
              <a:rPr spc="-40" dirty="0"/>
              <a:t> </a:t>
            </a:r>
            <a:r>
              <a:rPr dirty="0"/>
              <a:t>you</a:t>
            </a:r>
            <a:r>
              <a:rPr spc="-15" dirty="0"/>
              <a:t> </a:t>
            </a:r>
            <a:r>
              <a:rPr dirty="0"/>
              <a:t>find</a:t>
            </a:r>
            <a:r>
              <a:rPr spc="-35" dirty="0"/>
              <a:t> </a:t>
            </a:r>
            <a:r>
              <a:rPr spc="-10" dirty="0"/>
              <a:t>anywhere </a:t>
            </a:r>
            <a:r>
              <a:rPr dirty="0"/>
              <a:t>else.</a:t>
            </a:r>
            <a:r>
              <a:rPr spc="-35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dirty="0"/>
              <a:t>all</a:t>
            </a:r>
            <a:r>
              <a:rPr spc="-35" dirty="0"/>
              <a:t> </a:t>
            </a:r>
            <a:r>
              <a:rPr dirty="0"/>
              <a:t>diagrams</a:t>
            </a:r>
            <a:r>
              <a:rPr spc="-5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figures</a:t>
            </a:r>
            <a:r>
              <a:rPr spc="-50" dirty="0"/>
              <a:t> </a:t>
            </a:r>
            <a:r>
              <a:rPr dirty="0"/>
              <a:t>from</a:t>
            </a:r>
            <a:r>
              <a:rPr spc="-25" dirty="0"/>
              <a:t> </a:t>
            </a:r>
            <a:r>
              <a:rPr dirty="0"/>
              <a:t>other</a:t>
            </a:r>
            <a:r>
              <a:rPr spc="-40" dirty="0"/>
              <a:t> </a:t>
            </a:r>
            <a:r>
              <a:rPr dirty="0"/>
              <a:t>resources,</a:t>
            </a:r>
            <a:r>
              <a:rPr spc="-55" dirty="0"/>
              <a:t> </a:t>
            </a:r>
            <a:r>
              <a:rPr dirty="0"/>
              <a:t>please</a:t>
            </a:r>
            <a:r>
              <a:rPr spc="-40" dirty="0"/>
              <a:t> </a:t>
            </a:r>
            <a:r>
              <a:rPr spc="-25" dirty="0"/>
              <a:t>put </a:t>
            </a:r>
            <a:r>
              <a:rPr dirty="0"/>
              <a:t>careful</a:t>
            </a:r>
            <a:r>
              <a:rPr spc="-45" dirty="0"/>
              <a:t> </a:t>
            </a:r>
            <a:r>
              <a:rPr spc="-10" dirty="0"/>
              <a:t>references.</a:t>
            </a:r>
            <a:endParaRPr sz="1600">
              <a:latin typeface="Lucida Sans Unicode"/>
              <a:cs typeface="Lucida Sans Unicode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015"/>
              </a:spcBef>
            </a:pPr>
            <a:r>
              <a:rPr sz="1600" spc="125" dirty="0">
                <a:solidFill>
                  <a:srgbClr val="90C225"/>
                </a:solidFill>
                <a:latin typeface="Lucida Sans Unicode"/>
                <a:cs typeface="Lucida Sans Unicode"/>
              </a:rPr>
              <a:t>▶  </a:t>
            </a:r>
            <a:r>
              <a:rPr dirty="0"/>
              <a:t>If</a:t>
            </a:r>
            <a:r>
              <a:rPr spc="-15" dirty="0"/>
              <a:t> </a:t>
            </a:r>
            <a:r>
              <a:rPr dirty="0"/>
              <a:t>you</a:t>
            </a:r>
            <a:r>
              <a:rPr spc="-20" dirty="0"/>
              <a:t> </a:t>
            </a:r>
            <a:r>
              <a:rPr dirty="0"/>
              <a:t>want</a:t>
            </a:r>
            <a:r>
              <a:rPr spc="-4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apply</a:t>
            </a:r>
            <a:r>
              <a:rPr spc="-35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dirty="0"/>
              <a:t>assignment</a:t>
            </a:r>
            <a:r>
              <a:rPr spc="-60" dirty="0"/>
              <a:t> </a:t>
            </a:r>
            <a:r>
              <a:rPr dirty="0"/>
              <a:t>extension,</a:t>
            </a:r>
            <a:r>
              <a:rPr spc="-45" dirty="0"/>
              <a:t> </a:t>
            </a:r>
            <a:r>
              <a:rPr dirty="0"/>
              <a:t>please</a:t>
            </a:r>
            <a:r>
              <a:rPr spc="-40" dirty="0"/>
              <a:t> </a:t>
            </a:r>
            <a:r>
              <a:rPr dirty="0"/>
              <a:t>send</a:t>
            </a:r>
            <a:r>
              <a:rPr spc="-30" dirty="0"/>
              <a:t> </a:t>
            </a:r>
            <a:r>
              <a:rPr dirty="0"/>
              <a:t>me</a:t>
            </a:r>
            <a:r>
              <a:rPr spc="-30" dirty="0"/>
              <a:t> </a:t>
            </a:r>
            <a:r>
              <a:rPr spc="-10" dirty="0"/>
              <a:t>emails </a:t>
            </a:r>
            <a:r>
              <a:rPr dirty="0"/>
              <a:t>with</a:t>
            </a:r>
            <a:r>
              <a:rPr spc="-45" dirty="0"/>
              <a:t> </a:t>
            </a:r>
            <a:r>
              <a:rPr dirty="0"/>
              <a:t>supporting</a:t>
            </a:r>
            <a:r>
              <a:rPr spc="-55" dirty="0"/>
              <a:t> </a:t>
            </a:r>
            <a:r>
              <a:rPr dirty="0"/>
              <a:t>document</a:t>
            </a:r>
            <a:r>
              <a:rPr spc="-6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state</a:t>
            </a:r>
            <a:r>
              <a:rPr spc="-40" dirty="0"/>
              <a:t> </a:t>
            </a:r>
            <a:r>
              <a:rPr dirty="0"/>
              <a:t>clearly</a:t>
            </a:r>
            <a:r>
              <a:rPr spc="-45" dirty="0"/>
              <a:t> </a:t>
            </a:r>
            <a:r>
              <a:rPr dirty="0"/>
              <a:t>how</a:t>
            </a:r>
            <a:r>
              <a:rPr spc="-30" dirty="0"/>
              <a:t> </a:t>
            </a:r>
            <a:r>
              <a:rPr dirty="0"/>
              <a:t>long</a:t>
            </a:r>
            <a:r>
              <a:rPr spc="-30" dirty="0"/>
              <a:t> </a:t>
            </a:r>
            <a:r>
              <a:rPr dirty="0"/>
              <a:t>do</a:t>
            </a:r>
            <a:r>
              <a:rPr spc="-25" dirty="0"/>
              <a:t> </a:t>
            </a:r>
            <a:r>
              <a:rPr dirty="0"/>
              <a:t>you</a:t>
            </a:r>
            <a:r>
              <a:rPr spc="-20" dirty="0"/>
              <a:t> </a:t>
            </a:r>
            <a:r>
              <a:rPr dirty="0"/>
              <a:t>need.</a:t>
            </a:r>
            <a:r>
              <a:rPr spc="-30" dirty="0"/>
              <a:t> </a:t>
            </a:r>
            <a:r>
              <a:rPr spc="-25" dirty="0"/>
              <a:t>Do </a:t>
            </a:r>
            <a:r>
              <a:rPr dirty="0"/>
              <a:t>NOT</a:t>
            </a:r>
            <a:r>
              <a:rPr spc="-70" dirty="0"/>
              <a:t> </a:t>
            </a:r>
            <a:r>
              <a:rPr dirty="0"/>
              <a:t>apply</a:t>
            </a:r>
            <a:r>
              <a:rPr spc="-30" dirty="0"/>
              <a:t> </a:t>
            </a:r>
            <a:r>
              <a:rPr dirty="0"/>
              <a:t>for</a:t>
            </a:r>
            <a:r>
              <a:rPr spc="-35" dirty="0"/>
              <a:t> </a:t>
            </a:r>
            <a:r>
              <a:rPr dirty="0"/>
              <a:t>extension</a:t>
            </a:r>
            <a:r>
              <a:rPr spc="-50" dirty="0"/>
              <a:t> </a:t>
            </a:r>
            <a:r>
              <a:rPr dirty="0"/>
              <a:t>on</a:t>
            </a:r>
            <a:r>
              <a:rPr spc="-2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last</a:t>
            </a:r>
            <a:r>
              <a:rPr spc="-25" dirty="0"/>
              <a:t> </a:t>
            </a:r>
            <a:r>
              <a:rPr spc="-20" dirty="0"/>
              <a:t>day.</a:t>
            </a:r>
            <a:endParaRPr sz="1600">
              <a:latin typeface="Lucida Sans Unicode"/>
              <a:cs typeface="Lucida Sans Unicode"/>
            </a:endParaRPr>
          </a:p>
        </p:txBody>
      </p:sp>
    </p:spTree>
    <p:extLst>
      <p:ext uri="{BB962C8B-B14F-4D97-AF65-F5344CB8AC3E}">
        <p14:creationId xmlns:p14="http://schemas.microsoft.com/office/powerpoint/2010/main" val="3125624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21660" y="528193"/>
            <a:ext cx="4711065" cy="4965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7415" marR="901065" indent="1270" algn="ctr">
              <a:lnSpc>
                <a:spcPct val="150000"/>
              </a:lnSpc>
              <a:spcBef>
                <a:spcPts val="100"/>
              </a:spcBef>
            </a:pPr>
            <a:r>
              <a:rPr sz="3600" dirty="0">
                <a:solidFill>
                  <a:srgbClr val="6E919F"/>
                </a:solidFill>
                <a:latin typeface="Trebuchet MS"/>
                <a:cs typeface="Trebuchet MS"/>
              </a:rPr>
              <a:t>IF</a:t>
            </a:r>
            <a:r>
              <a:rPr sz="3600" spc="-70" dirty="0">
                <a:solidFill>
                  <a:srgbClr val="6E919F"/>
                </a:solidFill>
                <a:latin typeface="Trebuchet MS"/>
                <a:cs typeface="Trebuchet MS"/>
              </a:rPr>
              <a:t> </a:t>
            </a:r>
            <a:r>
              <a:rPr sz="3600" dirty="0">
                <a:solidFill>
                  <a:srgbClr val="6E919F"/>
                </a:solidFill>
                <a:latin typeface="Trebuchet MS"/>
                <a:cs typeface="Trebuchet MS"/>
              </a:rPr>
              <a:t>YOU</a:t>
            </a:r>
            <a:r>
              <a:rPr sz="3600" spc="-10" dirty="0">
                <a:solidFill>
                  <a:srgbClr val="6E919F"/>
                </a:solidFill>
                <a:latin typeface="Trebuchet MS"/>
                <a:cs typeface="Trebuchet MS"/>
              </a:rPr>
              <a:t> DON’T </a:t>
            </a:r>
            <a:r>
              <a:rPr sz="3600" dirty="0">
                <a:solidFill>
                  <a:srgbClr val="90C225"/>
                </a:solidFill>
                <a:latin typeface="Trebuchet MS"/>
                <a:cs typeface="Trebuchet MS"/>
              </a:rPr>
              <a:t>DO</a:t>
            </a:r>
            <a:r>
              <a:rPr sz="3600" spc="-80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3600" dirty="0">
                <a:solidFill>
                  <a:srgbClr val="90C225"/>
                </a:solidFill>
                <a:latin typeface="Trebuchet MS"/>
                <a:cs typeface="Trebuchet MS"/>
              </a:rPr>
              <a:t>THE</a:t>
            </a:r>
            <a:r>
              <a:rPr sz="3600" spc="-25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3600" spc="-20" dirty="0">
                <a:solidFill>
                  <a:srgbClr val="90C225"/>
                </a:solidFill>
                <a:latin typeface="Trebuchet MS"/>
                <a:cs typeface="Trebuchet MS"/>
              </a:rPr>
              <a:t>WORK </a:t>
            </a:r>
            <a:r>
              <a:rPr sz="3600" dirty="0">
                <a:solidFill>
                  <a:srgbClr val="6E919F"/>
                </a:solidFill>
                <a:latin typeface="Trebuchet MS"/>
                <a:cs typeface="Trebuchet MS"/>
              </a:rPr>
              <a:t>YOU</a:t>
            </a:r>
            <a:r>
              <a:rPr sz="3600" spc="-15" dirty="0">
                <a:solidFill>
                  <a:srgbClr val="6E919F"/>
                </a:solidFill>
                <a:latin typeface="Trebuchet MS"/>
                <a:cs typeface="Trebuchet MS"/>
              </a:rPr>
              <a:t> </a:t>
            </a:r>
            <a:r>
              <a:rPr sz="3600" spc="-10" dirty="0">
                <a:solidFill>
                  <a:srgbClr val="6E919F"/>
                </a:solidFill>
                <a:latin typeface="Trebuchet MS"/>
                <a:cs typeface="Trebuchet MS"/>
              </a:rPr>
              <a:t>WON’T</a:t>
            </a:r>
            <a:endParaRPr sz="3600">
              <a:latin typeface="Trebuchet MS"/>
              <a:cs typeface="Trebuchet MS"/>
            </a:endParaRPr>
          </a:p>
          <a:p>
            <a:pPr marL="553720" marR="5080" indent="-541655">
              <a:lnSpc>
                <a:spcPct val="150000"/>
              </a:lnSpc>
              <a:spcBef>
                <a:spcPts val="5"/>
              </a:spcBef>
            </a:pPr>
            <a:r>
              <a:rPr sz="3600" spc="-50" dirty="0">
                <a:solidFill>
                  <a:srgbClr val="90C225"/>
                </a:solidFill>
                <a:latin typeface="Trebuchet MS"/>
                <a:cs typeface="Trebuchet MS"/>
              </a:rPr>
              <a:t>HAVE</a:t>
            </a:r>
            <a:r>
              <a:rPr sz="3600" spc="-135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3600" dirty="0">
                <a:solidFill>
                  <a:srgbClr val="90C225"/>
                </a:solidFill>
                <a:latin typeface="Trebuchet MS"/>
                <a:cs typeface="Trebuchet MS"/>
              </a:rPr>
              <a:t>THE</a:t>
            </a:r>
            <a:r>
              <a:rPr sz="3600" spc="-70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3600" spc="-10" dirty="0">
                <a:solidFill>
                  <a:srgbClr val="90C225"/>
                </a:solidFill>
                <a:latin typeface="Trebuchet MS"/>
                <a:cs typeface="Trebuchet MS"/>
              </a:rPr>
              <a:t>KNOWLEDGE </a:t>
            </a:r>
            <a:r>
              <a:rPr sz="3600" dirty="0">
                <a:solidFill>
                  <a:srgbClr val="6E919F"/>
                </a:solidFill>
                <a:latin typeface="Trebuchet MS"/>
                <a:cs typeface="Trebuchet MS"/>
              </a:rPr>
              <a:t>AND</a:t>
            </a:r>
            <a:r>
              <a:rPr sz="3600" spc="-105" dirty="0">
                <a:solidFill>
                  <a:srgbClr val="6E919F"/>
                </a:solidFill>
                <a:latin typeface="Trebuchet MS"/>
                <a:cs typeface="Trebuchet MS"/>
              </a:rPr>
              <a:t> </a:t>
            </a:r>
            <a:r>
              <a:rPr sz="3600" dirty="0">
                <a:solidFill>
                  <a:srgbClr val="6E919F"/>
                </a:solidFill>
                <a:latin typeface="Trebuchet MS"/>
                <a:cs typeface="Trebuchet MS"/>
              </a:rPr>
              <a:t>YOU</a:t>
            </a:r>
            <a:r>
              <a:rPr sz="3600" spc="-40" dirty="0">
                <a:solidFill>
                  <a:srgbClr val="6E919F"/>
                </a:solidFill>
                <a:latin typeface="Trebuchet MS"/>
                <a:cs typeface="Trebuchet MS"/>
              </a:rPr>
              <a:t> </a:t>
            </a:r>
            <a:r>
              <a:rPr sz="3600" spc="-10" dirty="0">
                <a:solidFill>
                  <a:srgbClr val="6E919F"/>
                </a:solidFill>
                <a:latin typeface="Trebuchet MS"/>
                <a:cs typeface="Trebuchet MS"/>
              </a:rPr>
              <a:t>WON’T </a:t>
            </a:r>
            <a:r>
              <a:rPr sz="3600" spc="-90" dirty="0">
                <a:solidFill>
                  <a:srgbClr val="90C225"/>
                </a:solidFill>
                <a:latin typeface="Trebuchet MS"/>
                <a:cs typeface="Trebuchet MS"/>
              </a:rPr>
              <a:t>PASS</a:t>
            </a:r>
            <a:r>
              <a:rPr sz="3600" spc="-114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3600" dirty="0">
                <a:solidFill>
                  <a:srgbClr val="90C225"/>
                </a:solidFill>
                <a:latin typeface="Trebuchet MS"/>
                <a:cs typeface="Trebuchet MS"/>
              </a:rPr>
              <a:t>THE</a:t>
            </a:r>
            <a:r>
              <a:rPr sz="3600" spc="-75" dirty="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sz="3600" spc="-10" dirty="0">
                <a:solidFill>
                  <a:srgbClr val="90C225"/>
                </a:solidFill>
                <a:latin typeface="Trebuchet MS"/>
                <a:cs typeface="Trebuchet MS"/>
              </a:rPr>
              <a:t>COURSE</a:t>
            </a:r>
            <a:endParaRPr sz="360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892988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2990349" y="866353"/>
            <a:ext cx="5396163" cy="645115"/>
          </a:xfrm>
        </p:spPr>
        <p:txBody>
          <a:bodyPr vert="horz" wrap="square" lIns="90237" tIns="45118" rIns="90237" bIns="45118" anchor="b">
            <a:spAutoFit/>
          </a:bodyPr>
          <a:lstStyle/>
          <a:p>
            <a:pPr eaLnBrk="1" hangingPunct="1"/>
            <a:r>
              <a:rPr lang="en-US" altLang="zh-CN" b="1" dirty="0"/>
              <a:t>About This Course</a:t>
            </a:r>
          </a:p>
        </p:txBody>
      </p:sp>
      <p:sp>
        <p:nvSpPr>
          <p:cNvPr id="4099" name="Rectangle 3"/>
          <p:cNvSpPr>
            <a:spLocks noGrp="1"/>
          </p:cNvSpPr>
          <p:nvPr>
            <p:ph idx="1"/>
          </p:nvPr>
        </p:nvSpPr>
        <p:spPr>
          <a:xfrm>
            <a:off x="838200" y="1721159"/>
            <a:ext cx="8143875" cy="3722881"/>
          </a:xfrm>
        </p:spPr>
        <p:txBody>
          <a:bodyPr vert="horz" wrap="square" lIns="90237" tIns="45118" rIns="90237" bIns="45118" anchor="t">
            <a:spAutoFit/>
          </a:bodyPr>
          <a:lstStyle/>
          <a:p>
            <a:pPr marL="275532" indent="-275532"/>
            <a:r>
              <a:rPr lang="en-GB" b="1" dirty="0">
                <a:solidFill>
                  <a:srgbClr val="111111"/>
                </a:solidFill>
                <a:effectLst/>
                <a:latin typeface="Roboto" panose="02000000000000000000" pitchFamily="2" charset="0"/>
                <a:ea typeface="DengXian" panose="02010600030101010101" pitchFamily="2" charset="-122"/>
                <a:cs typeface="Times New Roman" panose="02020603050405020304" pitchFamily="18" charset="0"/>
              </a:rPr>
              <a:t>Basic information about the course</a:t>
            </a:r>
          </a:p>
          <a:p>
            <a:pPr marL="275532" indent="-275532"/>
            <a:endParaRPr lang="en-GB" sz="1800" dirty="0">
              <a:solidFill>
                <a:srgbClr val="111111"/>
              </a:solidFill>
              <a:effectLst/>
              <a:latin typeface="Roboto" panose="02000000000000000000" pitchFamily="2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275532" indent="-275532"/>
            <a:r>
              <a:rPr lang="en-GB" sz="1800" b="1" dirty="0">
                <a:solidFill>
                  <a:srgbClr val="111111"/>
                </a:solidFill>
                <a:effectLst/>
                <a:latin typeface="Roboto" panose="02000000000000000000" pitchFamily="2" charset="0"/>
                <a:ea typeface="DengXian" panose="02010600030101010101" pitchFamily="2" charset="-122"/>
                <a:cs typeface="Times New Roman" panose="02020603050405020304" pitchFamily="18" charset="0"/>
              </a:rPr>
              <a:t>Course Category: </a:t>
            </a:r>
            <a:r>
              <a:rPr lang="en-GB" sz="1800" dirty="0">
                <a:solidFill>
                  <a:srgbClr val="111111"/>
                </a:solidFill>
                <a:effectLst/>
                <a:latin typeface="Roboto" panose="02000000000000000000" pitchFamily="2" charset="0"/>
                <a:ea typeface="DengXian" panose="02010600030101010101" pitchFamily="2" charset="-122"/>
                <a:cs typeface="Times New Roman" panose="02020603050405020304" pitchFamily="18" charset="0"/>
              </a:rPr>
              <a:t>Compulsory courses for discipline and professional courses</a:t>
            </a:r>
          </a:p>
          <a:p>
            <a:pPr marL="275532" indent="-275532"/>
            <a:endParaRPr lang="en-GB" sz="1800" dirty="0">
              <a:solidFill>
                <a:srgbClr val="111111"/>
              </a:solidFill>
              <a:effectLst/>
              <a:latin typeface="Roboto" panose="02000000000000000000" pitchFamily="2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275532" indent="-275532"/>
            <a:r>
              <a:rPr lang="en-GB" sz="1800" b="1" dirty="0">
                <a:solidFill>
                  <a:srgbClr val="111111"/>
                </a:solidFill>
                <a:effectLst/>
                <a:latin typeface="Roboto" panose="02000000000000000000" pitchFamily="2" charset="0"/>
                <a:ea typeface="DengXian" panose="02010600030101010101" pitchFamily="2" charset="-122"/>
                <a:cs typeface="Times New Roman" panose="02020603050405020304" pitchFamily="18" charset="0"/>
              </a:rPr>
              <a:t>Credits: </a:t>
            </a:r>
            <a:r>
              <a:rPr lang="en-GB" sz="1800" dirty="0">
                <a:solidFill>
                  <a:srgbClr val="111111"/>
                </a:solidFill>
                <a:effectLst/>
                <a:latin typeface="Roboto" panose="02000000000000000000" pitchFamily="2" charset="0"/>
                <a:ea typeface="DengXian" panose="02010600030101010101" pitchFamily="2" charset="-122"/>
                <a:cs typeface="Times New Roman" panose="02020603050405020304" pitchFamily="18" charset="0"/>
              </a:rPr>
              <a:t>64 hours in total, 4 credits</a:t>
            </a:r>
            <a:endParaRPr lang="zh-CN" altLang="en-US" sz="2274" b="1" dirty="0">
              <a:latin typeface="楷体_GB2312" pitchFamily="49" charset="-122"/>
              <a:ea typeface="楷体_GB2312" pitchFamily="49" charset="-122"/>
            </a:endParaRPr>
          </a:p>
          <a:p>
            <a:pPr marL="275532" indent="-275532"/>
            <a:endParaRPr lang="en-GB" sz="1800" dirty="0">
              <a:solidFill>
                <a:srgbClr val="111111"/>
              </a:solidFill>
              <a:effectLst/>
              <a:latin typeface="Roboto" panose="02000000000000000000" pitchFamily="2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275532" indent="-275532"/>
            <a:r>
              <a:rPr lang="en-GB" sz="1800" b="1" dirty="0">
                <a:solidFill>
                  <a:srgbClr val="111111"/>
                </a:solidFill>
                <a:effectLst/>
                <a:latin typeface="Roboto" panose="02000000000000000000" pitchFamily="2" charset="0"/>
                <a:ea typeface="DengXian" panose="02010600030101010101" pitchFamily="2" charset="-122"/>
                <a:cs typeface="Times New Roman" panose="02020603050405020304" pitchFamily="18" charset="0"/>
              </a:rPr>
              <a:t>Course content</a:t>
            </a:r>
            <a:br>
              <a:rPr lang="en-GB" sz="1800" dirty="0">
                <a:solidFill>
                  <a:srgbClr val="111111"/>
                </a:solidFill>
                <a:effectLst/>
                <a:latin typeface="Roboto" panose="02000000000000000000" pitchFamily="2" charset="0"/>
                <a:ea typeface="DengXian" panose="02010600030101010101" pitchFamily="2" charset="-122"/>
                <a:cs typeface="Times New Roman" panose="02020603050405020304" pitchFamily="18" charset="0"/>
              </a:rPr>
            </a:br>
            <a:r>
              <a:rPr lang="en-GB" sz="1800" dirty="0">
                <a:solidFill>
                  <a:srgbClr val="111111"/>
                </a:solidFill>
                <a:effectLst/>
                <a:latin typeface="Roboto" panose="02000000000000000000" pitchFamily="2" charset="0"/>
                <a:ea typeface="DengXian" panose="02010600030101010101" pitchFamily="2" charset="-122"/>
                <a:cs typeface="Times New Roman" panose="02020603050405020304" pitchFamily="18" charset="0"/>
              </a:rPr>
              <a:t>It mainly teaches the basic principles of operating systems, i.e., chapters 1 to 13 of the textbook</a:t>
            </a:r>
          </a:p>
          <a:p>
            <a:pPr marL="275532" indent="-275532"/>
            <a:r>
              <a:rPr lang="en-GB" sz="1800" b="1" dirty="0">
                <a:solidFill>
                  <a:srgbClr val="111111"/>
                </a:solidFill>
                <a:effectLst/>
                <a:latin typeface="Roboto" panose="02000000000000000000" pitchFamily="2" charset="0"/>
                <a:ea typeface="DengXian" panose="02010600030101010101" pitchFamily="2" charset="-122"/>
                <a:cs typeface="Times New Roman" panose="02020603050405020304" pitchFamily="18" charset="0"/>
              </a:rPr>
              <a:t>Methodology for assessing grades</a:t>
            </a:r>
            <a:br>
              <a:rPr lang="en-GB" sz="1800" dirty="0">
                <a:solidFill>
                  <a:srgbClr val="111111"/>
                </a:solidFill>
                <a:effectLst/>
                <a:latin typeface="Roboto" panose="02000000000000000000" pitchFamily="2" charset="0"/>
                <a:ea typeface="DengXian" panose="02010600030101010101" pitchFamily="2" charset="-122"/>
                <a:cs typeface="Times New Roman" panose="02020603050405020304" pitchFamily="18" charset="0"/>
              </a:rPr>
            </a:br>
            <a:r>
              <a:rPr lang="en-GB" sz="1800" dirty="0">
                <a:solidFill>
                  <a:srgbClr val="111111"/>
                </a:solidFill>
                <a:effectLst/>
                <a:latin typeface="Roboto" panose="02000000000000000000" pitchFamily="2" charset="0"/>
                <a:ea typeface="DengXian" panose="02010600030101010101" pitchFamily="2" charset="-122"/>
                <a:cs typeface="Times New Roman" panose="02020603050405020304" pitchFamily="18" charset="0"/>
              </a:rPr>
              <a:t>70% final exam score and 30% usual grade</a:t>
            </a:r>
            <a:br>
              <a:rPr lang="en-GB" sz="1800" dirty="0">
                <a:solidFill>
                  <a:srgbClr val="111111"/>
                </a:solidFill>
                <a:effectLst/>
                <a:latin typeface="Roboto" panose="02000000000000000000" pitchFamily="2" charset="0"/>
                <a:ea typeface="DengXian" panose="02010600030101010101" pitchFamily="2" charset="-122"/>
                <a:cs typeface="Times New Roman" panose="02020603050405020304" pitchFamily="18" charset="0"/>
              </a:rPr>
            </a:br>
            <a:r>
              <a:rPr lang="en-GB" sz="1800" dirty="0">
                <a:solidFill>
                  <a:srgbClr val="111111"/>
                </a:solidFill>
                <a:effectLst/>
                <a:latin typeface="Roboto" panose="02000000000000000000" pitchFamily="2" charset="0"/>
                <a:ea typeface="DengXian" panose="02010600030101010101" pitchFamily="2" charset="-122"/>
                <a:cs typeface="Times New Roman" panose="02020603050405020304" pitchFamily="18" charset="0"/>
              </a:rPr>
              <a:t>Usual grades include: homework, experiments, classes, and attendance</a:t>
            </a:r>
            <a:endParaRPr lang="zh-CN" altLang="en-US" sz="2274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1424277" y="762000"/>
            <a:ext cx="6670006" cy="645115"/>
          </a:xfrm>
        </p:spPr>
        <p:txBody>
          <a:bodyPr vert="horz" wrap="square" lIns="90237" tIns="45118" rIns="90237" bIns="45118" anchor="b">
            <a:spAutoFit/>
          </a:bodyPr>
          <a:lstStyle/>
          <a:p>
            <a:pPr eaLnBrk="1" hangingPunct="1"/>
            <a:r>
              <a:rPr lang="en-US" altLang="zh-CN" b="1" dirty="0"/>
              <a:t>Textbook &amp; References</a:t>
            </a:r>
          </a:p>
        </p:txBody>
      </p:sp>
      <p:sp>
        <p:nvSpPr>
          <p:cNvPr id="5123" name="Rectangle 3"/>
          <p:cNvSpPr>
            <a:spLocks noGrp="1"/>
          </p:cNvSpPr>
          <p:nvPr>
            <p:ph idx="1"/>
          </p:nvPr>
        </p:nvSpPr>
        <p:spPr>
          <a:xfrm>
            <a:off x="1295400" y="1752600"/>
            <a:ext cx="8184482" cy="1383779"/>
          </a:xfrm>
        </p:spPr>
        <p:txBody>
          <a:bodyPr vert="horz" wrap="square" lIns="90237" tIns="45118" rIns="90237" bIns="45118" anchor="t">
            <a:spAutoFit/>
          </a:bodyPr>
          <a:lstStyle/>
          <a:p>
            <a:pPr algn="ctr" eaLnBrk="1" hangingPunct="1"/>
            <a:r>
              <a:rPr lang="en-US" altLang="zh-CN" sz="2800" b="1" dirty="0">
                <a:latin typeface="宋体" panose="02010600030101010101" pitchFamily="2" charset="-122"/>
              </a:rPr>
              <a:t>Abraham Silberschatz</a:t>
            </a:r>
            <a:r>
              <a:rPr lang="zh-CN" altLang="en-US" sz="2800" b="1" dirty="0">
                <a:latin typeface="宋体" panose="02010600030101010101" pitchFamily="2" charset="-122"/>
              </a:rPr>
              <a:t>．</a:t>
            </a:r>
            <a:r>
              <a:rPr lang="en-US" altLang="zh-CN" sz="2800" b="1" dirty="0">
                <a:latin typeface="宋体" panose="02010600030101010101" pitchFamily="2" charset="-122"/>
              </a:rPr>
              <a:t>Applied Operating System Concepts</a:t>
            </a:r>
            <a:r>
              <a:rPr lang="zh-CN" altLang="en-US" sz="2800" b="1" dirty="0">
                <a:latin typeface="宋体" panose="02010600030101010101" pitchFamily="2" charset="-122"/>
              </a:rPr>
              <a:t>．</a:t>
            </a:r>
            <a:r>
              <a:rPr lang="en-US" altLang="zh-CN" sz="2800" b="1" dirty="0">
                <a:latin typeface="宋体" panose="02010600030101010101" pitchFamily="2" charset="-122"/>
              </a:rPr>
              <a:t>Higher Education Press, 2001,5  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xfrm>
            <a:off x="1066800" y="685800"/>
            <a:ext cx="5396163" cy="703464"/>
          </a:xfrm>
        </p:spPr>
        <p:txBody>
          <a:bodyPr vert="horz" wrap="square" lIns="90237" tIns="45118" rIns="90237" bIns="45118" anchor="b">
            <a:spAutoFit/>
          </a:bodyPr>
          <a:lstStyle/>
          <a:p>
            <a:pPr eaLnBrk="1" hangingPunct="1"/>
            <a:r>
              <a:rPr lang="en-US" altLang="zh-CN" sz="3979" b="1" dirty="0"/>
              <a:t>Lecture Format</a:t>
            </a:r>
          </a:p>
        </p:txBody>
      </p:sp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1102426" y="1828800"/>
            <a:ext cx="7919787" cy="3663505"/>
          </a:xfrm>
        </p:spPr>
        <p:txBody>
          <a:bodyPr vert="horz" wrap="square" lIns="90237" tIns="45118" rIns="90237" bIns="45118" anchor="t">
            <a:spAutoFit/>
          </a:bodyPr>
          <a:lstStyle/>
          <a:p>
            <a:pPr eaLnBrk="1" hangingPunct="1"/>
            <a:r>
              <a:rPr lang="en-US" altLang="zh-CN" sz="2842" dirty="0"/>
              <a:t>Help you understand important OS concepts</a:t>
            </a:r>
          </a:p>
          <a:p>
            <a:pPr eaLnBrk="1" hangingPunct="1"/>
            <a:endParaRPr lang="en-US" altLang="zh-CN" sz="2842" dirty="0"/>
          </a:p>
          <a:p>
            <a:pPr eaLnBrk="1" hangingPunct="1"/>
            <a:r>
              <a:rPr lang="en-US" altLang="zh-CN" sz="2842" dirty="0"/>
              <a:t>Lectures do not cover everything</a:t>
            </a:r>
          </a:p>
          <a:p>
            <a:pPr lvl="1" eaLnBrk="1" hangingPunct="1"/>
            <a:r>
              <a:rPr lang="en-US" altLang="zh-CN" sz="2369" dirty="0"/>
              <a:t>Not all questions in homework or exams are from lectures</a:t>
            </a:r>
          </a:p>
          <a:p>
            <a:pPr lvl="1" eaLnBrk="1" hangingPunct="1"/>
            <a:endParaRPr lang="en-US" altLang="zh-CN" sz="2369" dirty="0"/>
          </a:p>
          <a:p>
            <a:pPr eaLnBrk="1" hangingPunct="1"/>
            <a:r>
              <a:rPr lang="en-US" altLang="zh-CN" sz="2842" dirty="0"/>
              <a:t>Students responsibility</a:t>
            </a:r>
          </a:p>
          <a:p>
            <a:pPr lvl="1" eaLnBrk="1" hangingPunct="1"/>
            <a:r>
              <a:rPr lang="en-US" altLang="zh-CN" sz="2369" dirty="0"/>
              <a:t>Attend lectures</a:t>
            </a:r>
          </a:p>
          <a:p>
            <a:pPr lvl="1" eaLnBrk="1" hangingPunct="1"/>
            <a:r>
              <a:rPr lang="en-US" altLang="zh-CN" sz="2369" dirty="0"/>
              <a:t>Read textbooks </a:t>
            </a:r>
          </a:p>
          <a:p>
            <a:pPr lvl="1" eaLnBrk="1" hangingPunct="1"/>
            <a:r>
              <a:rPr lang="en-US" altLang="zh-CN" sz="2369" dirty="0"/>
              <a:t>Homework, Experiments, Exam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310" y="629158"/>
            <a:ext cx="8235290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Course</a:t>
            </a:r>
            <a:r>
              <a:rPr sz="2800" spc="-140" dirty="0"/>
              <a:t> </a:t>
            </a:r>
            <a:r>
              <a:rPr sz="2800" spc="-10" dirty="0"/>
              <a:t>Outline</a:t>
            </a:r>
            <a:r>
              <a:rPr lang="en-US" sz="2800" spc="-10" dirty="0"/>
              <a:t> 1-8 (Overview and Process Management)</a:t>
            </a:r>
            <a:endParaRPr sz="2800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776102" y="1676400"/>
            <a:ext cx="7138670" cy="3864519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Week</a:t>
            </a:r>
            <a:r>
              <a:rPr sz="24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1:</a:t>
            </a:r>
            <a:r>
              <a:rPr sz="2400" spc="-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Introduction</a:t>
            </a:r>
            <a:r>
              <a:rPr sz="24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sz="24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en-US" sz="2400" spc="-10" dirty="0">
                <a:solidFill>
                  <a:srgbClr val="404040"/>
                </a:solidFill>
                <a:latin typeface="Trebuchet MS"/>
                <a:cs typeface="Trebuchet MS"/>
              </a:rPr>
              <a:t>Operating System (OS)</a:t>
            </a:r>
            <a:endParaRPr sz="2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Week</a:t>
            </a:r>
            <a:r>
              <a:rPr sz="24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2:</a:t>
            </a:r>
            <a:r>
              <a:rPr sz="2400" spc="-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rebuchet MS"/>
                <a:cs typeface="Trebuchet MS"/>
              </a:rPr>
              <a:t>Design and Construction of OS</a:t>
            </a:r>
            <a:endParaRPr sz="2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Week</a:t>
            </a:r>
            <a:r>
              <a:rPr sz="2400" spc="-1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3:</a:t>
            </a:r>
            <a:r>
              <a:rPr sz="2400" spc="-1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en-US" sz="2400" spc="-25" dirty="0">
                <a:solidFill>
                  <a:srgbClr val="404040"/>
                </a:solidFill>
                <a:latin typeface="Trebuchet MS"/>
                <a:cs typeface="Trebuchet MS"/>
              </a:rPr>
              <a:t>Features of OS</a:t>
            </a:r>
            <a:endParaRPr sz="2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Week</a:t>
            </a:r>
            <a:r>
              <a:rPr sz="24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4:</a:t>
            </a:r>
            <a:r>
              <a:rPr sz="2400" spc="-10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en-US" sz="2400" spc="-10" dirty="0">
                <a:solidFill>
                  <a:srgbClr val="404040"/>
                </a:solidFill>
                <a:latin typeface="Trebuchet MS"/>
                <a:cs typeface="Trebuchet MS"/>
              </a:rPr>
              <a:t>Process Scheduling and Interprocess Communication</a:t>
            </a:r>
            <a:endParaRPr sz="2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Week</a:t>
            </a:r>
            <a:r>
              <a:rPr sz="2400" spc="-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5:</a:t>
            </a:r>
            <a:r>
              <a:rPr sz="2400" spc="-1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en-US" sz="2400" spc="-10" dirty="0">
                <a:solidFill>
                  <a:srgbClr val="404040"/>
                </a:solidFill>
                <a:latin typeface="Trebuchet MS"/>
                <a:cs typeface="Trebuchet MS"/>
              </a:rPr>
              <a:t>Process Synchronization</a:t>
            </a:r>
            <a:endParaRPr sz="2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Week</a:t>
            </a:r>
            <a:r>
              <a:rPr sz="24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6:</a:t>
            </a:r>
            <a:r>
              <a:rPr sz="2400" spc="-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rebuchet MS"/>
                <a:cs typeface="Trebuchet MS"/>
              </a:rPr>
              <a:t>Deadlock Handling</a:t>
            </a:r>
            <a:endParaRPr sz="2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Week</a:t>
            </a:r>
            <a:r>
              <a:rPr sz="24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Trebuchet MS"/>
                <a:cs typeface="Trebuchet MS"/>
              </a:rPr>
              <a:t>7-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8:</a:t>
            </a:r>
            <a:r>
              <a:rPr sz="24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rebuchet MS"/>
                <a:cs typeface="Trebuchet MS"/>
              </a:rPr>
              <a:t>Discussion of Threads</a:t>
            </a:r>
            <a:endParaRPr sz="24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310" y="629158"/>
            <a:ext cx="8311490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Course</a:t>
            </a:r>
            <a:r>
              <a:rPr sz="2800" spc="-140" dirty="0"/>
              <a:t> </a:t>
            </a:r>
            <a:r>
              <a:rPr sz="2800" spc="-10" dirty="0"/>
              <a:t>Outline</a:t>
            </a:r>
            <a:r>
              <a:rPr lang="en-US" sz="2800" spc="-10" dirty="0"/>
              <a:t>(9-15) (Storage Management , Protection and Security)</a:t>
            </a:r>
            <a:endParaRPr sz="2800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775113" y="1524538"/>
            <a:ext cx="7138670" cy="4490332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Week</a:t>
            </a:r>
            <a:r>
              <a:rPr sz="24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en-US" sz="2400" spc="-65" dirty="0">
                <a:solidFill>
                  <a:srgbClr val="404040"/>
                </a:solidFill>
                <a:latin typeface="Trebuchet MS"/>
                <a:cs typeface="Trebuchet MS"/>
              </a:rPr>
              <a:t>9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:</a:t>
            </a:r>
            <a:r>
              <a:rPr sz="2400" spc="-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rebuchet MS"/>
                <a:cs typeface="Trebuchet MS"/>
              </a:rPr>
              <a:t>Memory Management of OS</a:t>
            </a:r>
            <a:endParaRPr sz="2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Week</a:t>
            </a:r>
            <a:r>
              <a:rPr sz="24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en-US" sz="2400" spc="-80" dirty="0">
                <a:solidFill>
                  <a:srgbClr val="404040"/>
                </a:solidFill>
                <a:latin typeface="Trebuchet MS"/>
                <a:cs typeface="Trebuchet MS"/>
              </a:rPr>
              <a:t>10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:</a:t>
            </a:r>
            <a:r>
              <a:rPr sz="2400" spc="-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rebuchet MS"/>
                <a:cs typeface="Trebuchet MS"/>
              </a:rPr>
              <a:t>Virtual Memory</a:t>
            </a:r>
            <a:endParaRPr sz="2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Week</a:t>
            </a:r>
            <a:r>
              <a:rPr sz="2400" spc="-1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en-US" sz="2400" spc="-100" dirty="0">
                <a:solidFill>
                  <a:srgbClr val="404040"/>
                </a:solidFill>
                <a:latin typeface="Trebuchet MS"/>
                <a:cs typeface="Trebuchet MS"/>
              </a:rPr>
              <a:t>11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:</a:t>
            </a:r>
            <a:r>
              <a:rPr sz="2400" spc="-1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en-US" sz="2400" spc="-25" dirty="0">
                <a:solidFill>
                  <a:srgbClr val="404040"/>
                </a:solidFill>
                <a:latin typeface="Trebuchet MS"/>
                <a:cs typeface="Trebuchet MS"/>
              </a:rPr>
              <a:t>File Systems</a:t>
            </a:r>
            <a:endParaRPr sz="2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Week</a:t>
            </a:r>
            <a:r>
              <a:rPr sz="2400" spc="-8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en-US" sz="2400" spc="-80" dirty="0">
                <a:solidFill>
                  <a:srgbClr val="404040"/>
                </a:solidFill>
                <a:latin typeface="Trebuchet MS"/>
                <a:cs typeface="Trebuchet MS"/>
              </a:rPr>
              <a:t>12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:</a:t>
            </a:r>
            <a:r>
              <a:rPr sz="2400" spc="-10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en-US" sz="2400" spc="-10" dirty="0">
                <a:solidFill>
                  <a:srgbClr val="404040"/>
                </a:solidFill>
                <a:latin typeface="Trebuchet MS"/>
                <a:cs typeface="Trebuchet MS"/>
              </a:rPr>
              <a:t>I/O Systems </a:t>
            </a:r>
            <a:endParaRPr sz="2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Week</a:t>
            </a:r>
            <a:r>
              <a:rPr sz="2400" spc="-9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en-US" sz="2400" spc="-90" dirty="0">
                <a:solidFill>
                  <a:srgbClr val="404040"/>
                </a:solidFill>
                <a:latin typeface="Trebuchet MS"/>
                <a:cs typeface="Trebuchet MS"/>
              </a:rPr>
              <a:t>13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:</a:t>
            </a:r>
            <a:r>
              <a:rPr sz="2400" spc="-1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en-US" sz="2400" spc="-10" dirty="0">
                <a:solidFill>
                  <a:srgbClr val="404040"/>
                </a:solidFill>
                <a:latin typeface="Trebuchet MS"/>
                <a:cs typeface="Trebuchet MS"/>
              </a:rPr>
              <a:t>Mass Storage Structure</a:t>
            </a:r>
            <a:endParaRPr sz="2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Week</a:t>
            </a:r>
            <a:r>
              <a:rPr sz="24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en-US" sz="2400" spc="-70" dirty="0">
                <a:solidFill>
                  <a:srgbClr val="404040"/>
                </a:solidFill>
                <a:latin typeface="Trebuchet MS"/>
                <a:cs typeface="Trebuchet MS"/>
              </a:rPr>
              <a:t>14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:</a:t>
            </a:r>
            <a:r>
              <a:rPr sz="2400" spc="-8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rebuchet MS"/>
                <a:cs typeface="Trebuchet MS"/>
              </a:rPr>
              <a:t>Protection</a:t>
            </a:r>
            <a:endParaRPr sz="2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Week</a:t>
            </a:r>
            <a:r>
              <a:rPr sz="24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en-US" sz="2400" spc="-25" dirty="0">
                <a:solidFill>
                  <a:srgbClr val="404040"/>
                </a:solidFill>
                <a:latin typeface="Trebuchet MS"/>
                <a:cs typeface="Trebuchet MS"/>
              </a:rPr>
              <a:t>15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:</a:t>
            </a:r>
            <a:r>
              <a:rPr sz="24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en-US" sz="2400" dirty="0">
                <a:solidFill>
                  <a:srgbClr val="404040"/>
                </a:solidFill>
                <a:latin typeface="Trebuchet MS"/>
                <a:cs typeface="Trebuchet MS"/>
              </a:rPr>
              <a:t>Security</a:t>
            </a: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lang="en-GB" sz="1900" spc="114" dirty="0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lang="en-GB" sz="1900" dirty="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lang="en-GB" sz="2400" dirty="0">
                <a:solidFill>
                  <a:srgbClr val="404040"/>
                </a:solidFill>
                <a:latin typeface="Trebuchet MS"/>
                <a:cs typeface="Trebuchet MS"/>
              </a:rPr>
              <a:t>Week</a:t>
            </a:r>
            <a:r>
              <a:rPr lang="en-GB" sz="24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lang="en-GB" sz="2400" spc="-25" dirty="0">
                <a:solidFill>
                  <a:srgbClr val="404040"/>
                </a:solidFill>
                <a:latin typeface="Trebuchet MS"/>
                <a:cs typeface="Trebuchet MS"/>
              </a:rPr>
              <a:t>16</a:t>
            </a:r>
            <a:r>
              <a:rPr lang="en-GB" sz="2400" dirty="0">
                <a:solidFill>
                  <a:srgbClr val="404040"/>
                </a:solidFill>
                <a:latin typeface="Trebuchet MS"/>
                <a:cs typeface="Trebuchet MS"/>
              </a:rPr>
              <a:t>:</a:t>
            </a:r>
            <a:r>
              <a:rPr lang="en-GB" sz="2400" spc="-60" dirty="0">
                <a:solidFill>
                  <a:srgbClr val="404040"/>
                </a:solidFill>
                <a:latin typeface="Trebuchet MS"/>
                <a:cs typeface="Trebuchet MS"/>
              </a:rPr>
              <a:t> Overall Course </a:t>
            </a:r>
            <a:r>
              <a:rPr lang="en-GB" sz="2400" dirty="0">
                <a:solidFill>
                  <a:srgbClr val="404040"/>
                </a:solidFill>
                <a:latin typeface="Trebuchet MS"/>
                <a:cs typeface="Trebuchet MS"/>
              </a:rPr>
              <a:t>Discussion and Q/A</a:t>
            </a: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endParaRPr lang="en-US" sz="2400" dirty="0">
              <a:solidFill>
                <a:srgbClr val="404040"/>
              </a:solidFill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8799554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234" name="Picture 50" descr="主机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1205" y="1989723"/>
            <a:ext cx="3623010" cy="3323724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1199" name="Picture 15" descr="3811490468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74771" y="1989723"/>
            <a:ext cx="4050130" cy="3077076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1240" name="Picture 56" descr="ceUDY8EjyvRPM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84584" y="1916029"/>
            <a:ext cx="4263690" cy="3639553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" name="Group 61"/>
          <p:cNvGrpSpPr/>
          <p:nvPr/>
        </p:nvGrpSpPr>
        <p:grpSpPr>
          <a:xfrm>
            <a:off x="1584158" y="0"/>
            <a:ext cx="10053889" cy="6331530"/>
            <a:chOff x="0" y="0"/>
            <a:chExt cx="6418" cy="3988"/>
          </a:xfrm>
        </p:grpSpPr>
        <p:pic>
          <p:nvPicPr>
            <p:cNvPr id="11279" name="Picture 58" descr="硬盘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923" y="2115"/>
              <a:ext cx="2495" cy="1873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11280" name="Group 49"/>
            <p:cNvGrpSpPr/>
            <p:nvPr/>
          </p:nvGrpSpPr>
          <p:grpSpPr>
            <a:xfrm>
              <a:off x="0" y="0"/>
              <a:ext cx="5760" cy="2531"/>
              <a:chOff x="0" y="0"/>
              <a:chExt cx="5760" cy="2531"/>
            </a:xfrm>
          </p:grpSpPr>
          <p:grpSp>
            <p:nvGrpSpPr>
              <p:cNvPr id="11282" name="Group 44"/>
              <p:cNvGrpSpPr/>
              <p:nvPr/>
            </p:nvGrpSpPr>
            <p:grpSpPr>
              <a:xfrm>
                <a:off x="0" y="0"/>
                <a:ext cx="5760" cy="2531"/>
                <a:chOff x="0" y="0"/>
                <a:chExt cx="5760" cy="2531"/>
              </a:xfrm>
            </p:grpSpPr>
            <p:pic>
              <p:nvPicPr>
                <p:cNvPr id="11286" name="Picture 5" descr="111(32)"/>
                <p:cNvPicPr>
                  <a:picLocks noChangeAspect="1"/>
                </p:cNvPicPr>
                <p:nvPr/>
              </p:nvPicPr>
              <p:blipFill>
                <a:blip r:embed="rId7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</a:blip>
                <a:stretch>
                  <a:fillRect/>
                </a:stretch>
              </p:blipFill>
              <p:spPr>
                <a:xfrm>
                  <a:off x="1111" y="0"/>
                  <a:ext cx="1335" cy="106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11287" name="Picture 7" descr="15423041B9"/>
                <p:cNvPicPr>
                  <a:picLocks noChangeAspect="1"/>
                </p:cNvPicPr>
                <p:nvPr/>
              </p:nvPicPr>
              <p:blipFill>
                <a:blip r:embed="rId8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</a:blip>
                <a:stretch>
                  <a:fillRect/>
                </a:stretch>
              </p:blipFill>
              <p:spPr>
                <a:xfrm>
                  <a:off x="0" y="0"/>
                  <a:ext cx="998" cy="74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11288" name="Picture 9" descr="T1z5JbXg0qZoyCab76_061059"/>
                <p:cNvPicPr>
                  <a:picLocks noChangeAspect="1"/>
                </p:cNvPicPr>
                <p:nvPr/>
              </p:nvPicPr>
              <p:blipFill>
                <a:blip r:embed="rId9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</a:blip>
                <a:stretch>
                  <a:fillRect/>
                </a:stretch>
              </p:blipFill>
              <p:spPr>
                <a:xfrm>
                  <a:off x="2472" y="119"/>
                  <a:ext cx="1089" cy="81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11289" name="Picture 11" descr="20100331082815935853"/>
                <p:cNvPicPr>
                  <a:picLocks noChangeAspect="1"/>
                </p:cNvPicPr>
                <p:nvPr/>
              </p:nvPicPr>
              <p:blipFill>
                <a:blip r:embed="rId10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</a:blip>
                <a:stretch>
                  <a:fillRect/>
                </a:stretch>
              </p:blipFill>
              <p:spPr>
                <a:xfrm>
                  <a:off x="3787" y="0"/>
                  <a:ext cx="1266" cy="9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11290" name="Picture 21" descr="201015131152135"/>
                <p:cNvPicPr>
                  <a:picLocks noChangeAspect="1"/>
                </p:cNvPicPr>
                <p:nvPr/>
              </p:nvPicPr>
              <p:blipFill>
                <a:blip r:embed="rId11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</a:blip>
                <a:stretch>
                  <a:fillRect/>
                </a:stretch>
              </p:blipFill>
              <p:spPr>
                <a:xfrm>
                  <a:off x="4277" y="1480"/>
                  <a:ext cx="1483" cy="90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11291" name="Text Box 26"/>
                <p:cNvSpPr txBox="1"/>
                <p:nvPr/>
              </p:nvSpPr>
              <p:spPr>
                <a:xfrm>
                  <a:off x="249" y="754"/>
                  <a:ext cx="429" cy="23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 dirty="0">
                      <a:latin typeface="Arial" panose="020B0604020202020204" pitchFamily="34" charset="0"/>
                    </a:rPr>
                    <a:t>CPU</a:t>
                  </a:r>
                </a:p>
              </p:txBody>
            </p:sp>
            <p:sp>
              <p:nvSpPr>
                <p:cNvPr id="11292" name="Text Box 27"/>
                <p:cNvSpPr txBox="1"/>
                <p:nvPr/>
              </p:nvSpPr>
              <p:spPr>
                <a:xfrm>
                  <a:off x="1358" y="1079"/>
                  <a:ext cx="1076" cy="42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1895" b="1" dirty="0">
                      <a:latin typeface="Arial" panose="020B0604020202020204" pitchFamily="34" charset="0"/>
                    </a:rPr>
                    <a:t>motherboard</a:t>
                  </a:r>
                </a:p>
                <a:p>
                  <a:endParaRPr lang="zh-CN" altLang="en-US" sz="1895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1293" name="Text Box 28"/>
                <p:cNvSpPr txBox="1"/>
                <p:nvPr/>
              </p:nvSpPr>
              <p:spPr>
                <a:xfrm>
                  <a:off x="2971" y="870"/>
                  <a:ext cx="618" cy="24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1895" b="1" dirty="0">
                      <a:latin typeface="Arial" panose="020B0604020202020204" pitchFamily="34" charset="0"/>
                    </a:rPr>
                    <a:t>power </a:t>
                  </a:r>
                  <a:endParaRPr lang="zh-CN" altLang="en-US" sz="1895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1294" name="Text Box 33"/>
                <p:cNvSpPr txBox="1"/>
                <p:nvPr/>
              </p:nvSpPr>
              <p:spPr>
                <a:xfrm>
                  <a:off x="4717" y="2115"/>
                  <a:ext cx="691" cy="41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 dirty="0">
                      <a:latin typeface="Arial" panose="020B0604020202020204" pitchFamily="34" charset="0"/>
                    </a:rPr>
                    <a:t>memory</a:t>
                  </a:r>
                </a:p>
                <a:p>
                  <a:endParaRPr lang="zh-CN" altLang="en-US" sz="1895" b="1" dirty="0">
                    <a:latin typeface="Arial" panose="020B0604020202020204" pitchFamily="34" charset="0"/>
                  </a:endParaRPr>
                </a:p>
              </p:txBody>
            </p:sp>
            <p:pic>
              <p:nvPicPr>
                <p:cNvPr id="11295" name="Picture 13" descr="T1YBpbXcXl9oxriIIU_014142"/>
                <p:cNvPicPr>
                  <a:picLocks noChangeAspect="1"/>
                </p:cNvPicPr>
                <p:nvPr/>
              </p:nvPicPr>
              <p:blipFill>
                <a:blip r:embed="rId12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</a:blip>
                <a:stretch>
                  <a:fillRect/>
                </a:stretch>
              </p:blipFill>
              <p:spPr>
                <a:xfrm>
                  <a:off x="0" y="1253"/>
                  <a:ext cx="1020" cy="76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11296" name="Text Box 30"/>
                <p:cNvSpPr txBox="1"/>
                <p:nvPr/>
              </p:nvSpPr>
              <p:spPr>
                <a:xfrm>
                  <a:off x="57" y="1924"/>
                  <a:ext cx="576" cy="59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 dirty="0">
                      <a:latin typeface="Arial" panose="020B0604020202020204" pitchFamily="34" charset="0"/>
                    </a:rPr>
                    <a:t>Sound</a:t>
                  </a:r>
                </a:p>
                <a:p>
                  <a:r>
                    <a:rPr lang="en-US" altLang="zh-CN" b="1" dirty="0">
                      <a:latin typeface="Arial" panose="020B0604020202020204" pitchFamily="34" charset="0"/>
                    </a:rPr>
                    <a:t>card</a:t>
                  </a:r>
                </a:p>
                <a:p>
                  <a:endParaRPr lang="zh-CN" altLang="en-US" sz="1895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1297" name="Text Box 29"/>
                <p:cNvSpPr txBox="1"/>
                <p:nvPr/>
              </p:nvSpPr>
              <p:spPr>
                <a:xfrm>
                  <a:off x="3702" y="787"/>
                  <a:ext cx="938" cy="42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altLang="zh-CN" sz="1895" b="1" dirty="0">
                      <a:latin typeface="Arial" panose="020B0604020202020204" pitchFamily="34" charset="0"/>
                    </a:rPr>
                    <a:t>Video card</a:t>
                  </a:r>
                </a:p>
                <a:p>
                  <a:endParaRPr lang="zh-CN" altLang="en-US" sz="1895" b="1"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11283" name="Group 48"/>
              <p:cNvGrpSpPr/>
              <p:nvPr/>
            </p:nvGrpSpPr>
            <p:grpSpPr>
              <a:xfrm>
                <a:off x="4649" y="255"/>
                <a:ext cx="1111" cy="1190"/>
                <a:chOff x="4649" y="255"/>
                <a:chExt cx="1111" cy="1190"/>
              </a:xfrm>
            </p:grpSpPr>
            <p:pic>
              <p:nvPicPr>
                <p:cNvPr id="11284" name="Picture 46" descr="u=3035953436,3263924175&amp;fm=0&amp;gp=0">
                  <a:hlinkClick r:id="rId13"/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</a:blip>
                <a:stretch>
                  <a:fillRect/>
                </a:stretch>
              </p:blipFill>
              <p:spPr>
                <a:xfrm>
                  <a:off x="4649" y="255"/>
                  <a:ext cx="1111" cy="111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11285" name="Text Box 47"/>
                <p:cNvSpPr txBox="1"/>
                <p:nvPr/>
              </p:nvSpPr>
              <p:spPr>
                <a:xfrm>
                  <a:off x="4954" y="1029"/>
                  <a:ext cx="724" cy="41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b="1" dirty="0">
                      <a:latin typeface="Arial" panose="020B0604020202020204" pitchFamily="34" charset="0"/>
                    </a:rPr>
                    <a:t>CD-ROM</a:t>
                  </a:r>
                </a:p>
                <a:p>
                  <a:endParaRPr lang="zh-CN" altLang="en-US" sz="1895" b="1" dirty="0">
                    <a:latin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1281" name="Text Box 60"/>
            <p:cNvSpPr txBox="1"/>
            <p:nvPr/>
          </p:nvSpPr>
          <p:spPr>
            <a:xfrm>
              <a:off x="4720" y="3566"/>
              <a:ext cx="822" cy="4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latin typeface="Arial" panose="020B0604020202020204" pitchFamily="34" charset="0"/>
                </a:rPr>
                <a:t>Rigid disk</a:t>
              </a:r>
            </a:p>
            <a:p>
              <a:endParaRPr lang="zh-CN" altLang="en-US" sz="1895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221247" name="Text Box 63"/>
          <p:cNvSpPr txBox="1"/>
          <p:nvPr/>
        </p:nvSpPr>
        <p:spPr>
          <a:xfrm>
            <a:off x="9156218" y="1989320"/>
            <a:ext cx="955922" cy="4570496"/>
          </a:xfrm>
          <a:prstGeom prst="rect">
            <a:avLst/>
          </a:prstGeom>
          <a:noFill/>
          <a:ln w="9525">
            <a:noFill/>
          </a:ln>
        </p:spPr>
        <p:txBody>
          <a:bodyPr vert="eaVert" lIns="90751" tIns="45375" rIns="90751" bIns="45375">
            <a:spAutoFit/>
          </a:bodyPr>
          <a:lstStyle/>
          <a:p>
            <a:r>
              <a:rPr lang="en-GB" sz="1800" dirty="0"/>
              <a:t>Hardware systems alone will not work</a:t>
            </a:r>
          </a:p>
          <a:p>
            <a:r>
              <a:rPr lang="en-GB" sz="1800" dirty="0"/>
              <a:t>The software system must also be installed </a:t>
            </a:r>
            <a:r>
              <a:rPr lang="zh-CN" altLang="en-US" sz="3221" b="1" dirty="0">
                <a:latin typeface="Arial" panose="020B0604020202020204" pitchFamily="34" charset="0"/>
                <a:ea typeface="楷体_GB2312" pitchFamily="49" charset="-122"/>
              </a:rPr>
              <a:t>。</a:t>
            </a:r>
          </a:p>
        </p:txBody>
      </p:sp>
      <p:sp>
        <p:nvSpPr>
          <p:cNvPr id="221241" name="Text Box 57"/>
          <p:cNvSpPr txBox="1"/>
          <p:nvPr/>
        </p:nvSpPr>
        <p:spPr>
          <a:xfrm>
            <a:off x="1398700" y="184667"/>
            <a:ext cx="8846218" cy="2307627"/>
          </a:xfrm>
          <a:prstGeom prst="rect">
            <a:avLst/>
          </a:prstGeom>
          <a:noFill/>
          <a:ln w="9525">
            <a:noFill/>
          </a:ln>
        </p:spPr>
        <p:txBody>
          <a:bodyPr lIns="90751" tIns="45375" rIns="90751" bIns="45375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Arial" panose="020B0604020202020204" pitchFamily="34" charset="0"/>
              </a:rPr>
              <a:t> </a:t>
            </a:r>
            <a:r>
              <a:rPr lang="en-US" sz="3600" dirty="0"/>
              <a:t>After the hardware is assembled, connect the monitor, keyboard, mouse, plug in the power supply, and now, can this computer be used normally? Why?</a:t>
            </a:r>
            <a:endParaRPr lang="zh-CN" altLang="en-US" sz="3600" b="1" dirty="0">
              <a:latin typeface="Arial" panose="020B0604020202020204" pitchFamily="34" charset="0"/>
            </a:endParaRPr>
          </a:p>
        </p:txBody>
      </p:sp>
      <p:pic>
        <p:nvPicPr>
          <p:cNvPr id="11272" name="Picture 25" descr="01300000326551122974819141515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28803" y="2463101"/>
            <a:ext cx="3968918" cy="32214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73" name="Text Box 31"/>
          <p:cNvSpPr txBox="1"/>
          <p:nvPr/>
        </p:nvSpPr>
        <p:spPr>
          <a:xfrm>
            <a:off x="5745581" y="6491037"/>
            <a:ext cx="1789697" cy="383255"/>
          </a:xfrm>
          <a:prstGeom prst="rect">
            <a:avLst/>
          </a:prstGeom>
          <a:noFill/>
          <a:ln w="9525">
            <a:noFill/>
          </a:ln>
        </p:spPr>
        <p:txBody>
          <a:bodyPr lIns="90751" tIns="45375" rIns="90751" bIns="45375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</a:rPr>
              <a:t>mouse</a:t>
            </a:r>
            <a:endParaRPr lang="zh-CN" altLang="en-US" sz="1895" b="1" dirty="0">
              <a:latin typeface="Arial" panose="020B0604020202020204" pitchFamily="34" charset="0"/>
            </a:endParaRPr>
          </a:p>
        </p:txBody>
      </p:sp>
      <p:sp>
        <p:nvSpPr>
          <p:cNvPr id="11274" name="Text Box 35"/>
          <p:cNvSpPr txBox="1"/>
          <p:nvPr/>
        </p:nvSpPr>
        <p:spPr>
          <a:xfrm>
            <a:off x="1584158" y="5012657"/>
            <a:ext cx="1528011" cy="368635"/>
          </a:xfrm>
          <a:prstGeom prst="rect">
            <a:avLst/>
          </a:prstGeom>
          <a:noFill/>
          <a:ln w="9525">
            <a:noFill/>
          </a:ln>
        </p:spPr>
        <p:txBody>
          <a:bodyPr lIns="90751" tIns="45375" rIns="90751" bIns="45375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</a:rPr>
              <a:t>display</a:t>
            </a:r>
          </a:p>
        </p:txBody>
      </p:sp>
      <p:pic>
        <p:nvPicPr>
          <p:cNvPr id="11275" name="Picture 17" descr="01300000326551122974812632541"/>
          <p:cNvPicPr>
            <a:picLocks noChangeAspect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543701">
            <a:off x="2472991" y="5400676"/>
            <a:ext cx="3060532" cy="14573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76" name="Text Box 34"/>
          <p:cNvSpPr txBox="1"/>
          <p:nvPr/>
        </p:nvSpPr>
        <p:spPr>
          <a:xfrm>
            <a:off x="2808371" y="6491037"/>
            <a:ext cx="2335631" cy="383255"/>
          </a:xfrm>
          <a:prstGeom prst="rect">
            <a:avLst/>
          </a:prstGeom>
          <a:noFill/>
          <a:ln w="9525">
            <a:noFill/>
          </a:ln>
        </p:spPr>
        <p:txBody>
          <a:bodyPr lIns="90751" tIns="45375" rIns="90751" bIns="45375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</a:rPr>
              <a:t>keyboard</a:t>
            </a:r>
            <a:endParaRPr lang="zh-CN" altLang="en-US" sz="1895" b="1" dirty="0">
              <a:latin typeface="Arial" panose="020B0604020202020204" pitchFamily="34" charset="0"/>
            </a:endParaRPr>
          </a:p>
        </p:txBody>
      </p:sp>
      <p:pic>
        <p:nvPicPr>
          <p:cNvPr id="11277" name="Picture 42" descr="u=3417498741,2328138478&amp;fm=0&amp;gp=0">
            <a:hlinkClick r:id="rId17"/>
          </p:cNvPr>
          <p:cNvPicPr>
            <a:picLocks noChangeAspect="1"/>
          </p:cNvPicPr>
          <p:nvPr/>
        </p:nvPicPr>
        <p:blipFill>
          <a:blip r:embed="rId18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32760" y="5357061"/>
            <a:ext cx="1315953" cy="133400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78" name="Text Box 32"/>
          <p:cNvSpPr txBox="1"/>
          <p:nvPr/>
        </p:nvSpPr>
        <p:spPr>
          <a:xfrm>
            <a:off x="5277852" y="5161547"/>
            <a:ext cx="1353553" cy="383255"/>
          </a:xfrm>
          <a:prstGeom prst="rect">
            <a:avLst/>
          </a:prstGeom>
          <a:noFill/>
          <a:ln w="9525">
            <a:noFill/>
          </a:ln>
        </p:spPr>
        <p:txBody>
          <a:bodyPr lIns="90751" tIns="45375" rIns="90751" bIns="45375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</a:rPr>
              <a:t>case</a:t>
            </a:r>
            <a:endParaRPr lang="zh-CN" altLang="en-US" sz="1895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xit" presetSubtype="54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3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2" presetID="2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2211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2211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2212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2212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221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221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500"/>
                            </p:stCondLst>
                            <p:childTnLst>
                              <p:par>
                                <p:cTn id="24" presetID="2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3000"/>
                                        <p:tgtEl>
                                          <p:spTgt spid="2212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000"/>
                                        <p:tgtEl>
                                          <p:spTgt spid="2212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22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8500"/>
                            </p:stCondLst>
                            <p:childTnLst>
                              <p:par>
                                <p:cTn id="2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21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1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9000"/>
                            </p:stCondLst>
                            <p:childTnLst>
                              <p:par>
                                <p:cTn id="34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6" dur="80"/>
                                        <p:tgtEl>
                                          <p:spTgt spid="2212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7" dur="80"/>
                                        <p:tgtEl>
                                          <p:spTgt spid="2212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80"/>
                                        <p:tgtEl>
                                          <p:spTgt spid="2212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3" dur="80"/>
                                        <p:tgtEl>
                                          <p:spTgt spid="2212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4" dur="80"/>
                                        <p:tgtEl>
                                          <p:spTgt spid="2212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80"/>
                                        <p:tgtEl>
                                          <p:spTgt spid="2212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247" grpId="0"/>
      <p:bldP spid="22124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文本占位符 8"/>
          <p:cNvSpPr>
            <a:spLocks noGrp="1"/>
          </p:cNvSpPr>
          <p:nvPr>
            <p:ph type="body" sz="half"/>
          </p:nvPr>
        </p:nvSpPr>
        <p:spPr>
          <a:xfrm>
            <a:off x="4295304" y="5693694"/>
            <a:ext cx="5414211" cy="804611"/>
          </a:xfrm>
        </p:spPr>
        <p:txBody>
          <a:bodyPr vert="horz" wrap="square" lIns="90237" tIns="45118" rIns="90237" bIns="45118" anchor="t"/>
          <a:lstStyle>
            <a:lvl1pPr lvl="0">
              <a:defRPr sz="3000"/>
            </a:lvl1pPr>
            <a:lvl2pPr lvl="1">
              <a:defRPr sz="2500"/>
            </a:lvl2pPr>
            <a:lvl3pPr lvl="2">
              <a:defRPr sz="2100"/>
            </a:lvl3pPr>
            <a:lvl4pPr lvl="3">
              <a:defRPr sz="1900"/>
            </a:lvl4pPr>
            <a:lvl5pPr lvl="4">
              <a:defRPr sz="1900"/>
            </a:lvl5pPr>
          </a:lstStyle>
          <a:p>
            <a:r>
              <a:rPr lang="en-US" altLang="zh-CN" sz="2369" b="1" dirty="0">
                <a:solidFill>
                  <a:schemeClr val="hlink"/>
                </a:solidFill>
              </a:rPr>
              <a:t>Windows XP</a:t>
            </a:r>
            <a:endParaRPr lang="zh-CN" altLang="en-US" sz="2369" b="1" dirty="0">
              <a:solidFill>
                <a:schemeClr val="hlink"/>
              </a:solidFill>
            </a:endParaRPr>
          </a:p>
        </p:txBody>
      </p:sp>
      <p:pic>
        <p:nvPicPr>
          <p:cNvPr id="13316" name="Picture 4" descr="图2-1Windows XP 的“桌面”"/>
          <p:cNvPicPr>
            <a:picLocks noGrp="1" noChangeAspect="1"/>
          </p:cNvPicPr>
          <p:nvPr>
            <p:ph idx="1"/>
          </p:nvPr>
        </p:nvPicPr>
        <p:blipFill>
          <a:blip r:embed="rId2"/>
          <a:srcRect l="273" r="273"/>
          <a:stretch>
            <a:fillRect/>
          </a:stretch>
        </p:blipFill>
        <p:spPr>
          <a:xfrm>
            <a:off x="1584158" y="0"/>
            <a:ext cx="9344025" cy="5949616"/>
          </a:xfrm>
        </p:spPr>
      </p:pic>
      <p:sp>
        <p:nvSpPr>
          <p:cNvPr id="2" name="文本框 1"/>
          <p:cNvSpPr txBox="1"/>
          <p:nvPr/>
        </p:nvSpPr>
        <p:spPr>
          <a:xfrm>
            <a:off x="1371600" y="762000"/>
            <a:ext cx="72652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spc="-10" dirty="0">
                <a:solidFill>
                  <a:srgbClr val="90C225"/>
                </a:solidFill>
                <a:latin typeface="Trebuchet MS"/>
                <a:ea typeface="+mj-ea"/>
                <a:cs typeface="Trebuchet MS"/>
              </a:rPr>
              <a:t>Q1: Is the operating system application software or system software?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332170" y="2724551"/>
            <a:ext cx="3526456" cy="5005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653" b="1">
                <a:solidFill>
                  <a:srgbClr val="FF0000"/>
                </a:solidFill>
                <a:sym typeface="+mn-ea"/>
              </a:rPr>
              <a:t>system software</a:t>
            </a:r>
          </a:p>
        </p:txBody>
      </p:sp>
    </p:spTree>
  </p:cSld>
  <p:clrMapOvr>
    <a:masterClrMapping/>
  </p:clrMapOvr>
  <p:transition spd="slow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3" grpId="2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6" name="Picture 4" descr="图2-1Windows XP 的“桌面”"/>
          <p:cNvPicPr>
            <a:picLocks noGrp="1" noChangeAspect="1"/>
          </p:cNvPicPr>
          <p:nvPr>
            <p:ph idx="1"/>
          </p:nvPr>
        </p:nvPicPr>
        <p:blipFill>
          <a:blip r:embed="rId2"/>
          <a:srcRect l="273" r="273"/>
          <a:stretch>
            <a:fillRect/>
          </a:stretch>
        </p:blipFill>
        <p:spPr>
          <a:xfrm>
            <a:off x="1584158" y="0"/>
            <a:ext cx="9344025" cy="5949616"/>
          </a:xfrm>
        </p:spPr>
      </p:pic>
      <p:sp>
        <p:nvSpPr>
          <p:cNvPr id="2" name="文本框 1"/>
          <p:cNvSpPr txBox="1"/>
          <p:nvPr/>
        </p:nvSpPr>
        <p:spPr>
          <a:xfrm>
            <a:off x="1501742" y="838200"/>
            <a:ext cx="7265269" cy="1142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411" b="1" dirty="0">
                <a:solidFill>
                  <a:schemeClr val="accent4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3411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TOPIC</a:t>
            </a:r>
            <a:r>
              <a:rPr lang="zh-CN" altLang="en-US" sz="3411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：</a:t>
            </a:r>
            <a:r>
              <a:rPr lang="zh-CN" altLang="en-US" sz="3411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+mn-lt"/>
                <a:cs typeface="+mn-lt"/>
              </a:rPr>
              <a:t>how does the operating system make a program run? </a:t>
            </a:r>
          </a:p>
        </p:txBody>
      </p:sp>
    </p:spTree>
  </p:cSld>
  <p:clrMapOvr>
    <a:masterClrMapping/>
  </p:clrMapOvr>
  <p:transition spd="slow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/>
          </p:cNvSpPr>
          <p:nvPr>
            <p:ph type="title"/>
          </p:nvPr>
        </p:nvSpPr>
        <p:spPr>
          <a:xfrm>
            <a:off x="1143000" y="700444"/>
            <a:ext cx="7018923" cy="583560"/>
          </a:xfrm>
        </p:spPr>
        <p:txBody>
          <a:bodyPr vert="horz" wrap="square" lIns="90237" tIns="45118" rIns="90237" bIns="45118" anchor="b">
            <a:spAutoFit/>
          </a:bodyPr>
          <a:lstStyle/>
          <a:p>
            <a:pPr eaLnBrk="1" hangingPunct="1"/>
            <a:r>
              <a:rPr lang="en-US" altLang="zh-CN" sz="3200" spc="-10" dirty="0"/>
              <a:t>Chapter 1:  Introduction</a:t>
            </a:r>
          </a:p>
        </p:txBody>
      </p:sp>
      <p:sp>
        <p:nvSpPr>
          <p:cNvPr id="14339" name="Rectangle 3"/>
          <p:cNvSpPr>
            <a:spLocks noGrp="1"/>
          </p:cNvSpPr>
          <p:nvPr>
            <p:ph idx="1"/>
          </p:nvPr>
        </p:nvSpPr>
        <p:spPr>
          <a:xfrm>
            <a:off x="2391779" y="2240882"/>
            <a:ext cx="7292640" cy="1534205"/>
          </a:xfrm>
        </p:spPr>
        <p:txBody>
          <a:bodyPr vert="horz" wrap="square" lIns="90237" tIns="45118" rIns="90237" bIns="45118" anchor="t">
            <a:spAutoFit/>
          </a:bodyPr>
          <a:lstStyle/>
          <a:p>
            <a:pPr eaLnBrk="1" hangingPunct="1"/>
            <a:r>
              <a:rPr lang="en-US" altLang="zh-CN" sz="3126" b="1" dirty="0"/>
              <a:t>What is an Operating System? </a:t>
            </a:r>
          </a:p>
          <a:p>
            <a:pPr eaLnBrk="1" hangingPunct="1"/>
            <a:r>
              <a:rPr lang="en-US" altLang="zh-CN" sz="3126" b="1" dirty="0"/>
              <a:t>History of Operating Systems </a:t>
            </a:r>
          </a:p>
          <a:p>
            <a:pPr eaLnBrk="1" hangingPunct="1"/>
            <a:r>
              <a:rPr lang="en-US" altLang="zh-CN" sz="3126" b="1" dirty="0"/>
              <a:t>The Operating System Zoo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/>
          </p:cNvSpPr>
          <p:nvPr>
            <p:ph type="title"/>
          </p:nvPr>
        </p:nvSpPr>
        <p:spPr>
          <a:xfrm>
            <a:off x="1219200" y="685800"/>
            <a:ext cx="7119687" cy="583560"/>
          </a:xfrm>
        </p:spPr>
        <p:txBody>
          <a:bodyPr vert="horz" wrap="square" lIns="90237" tIns="45118" rIns="90237" bIns="45118" anchor="b">
            <a:spAutoFit/>
          </a:bodyPr>
          <a:lstStyle/>
          <a:p>
            <a:r>
              <a:rPr lang="en-US" altLang="zh-CN" sz="3200" spc="-10" dirty="0"/>
              <a:t>What is an Operating System? </a:t>
            </a:r>
          </a:p>
        </p:txBody>
      </p:sp>
      <p:sp>
        <p:nvSpPr>
          <p:cNvPr id="15363" name="Rectangle 3"/>
          <p:cNvSpPr>
            <a:spLocks noGrp="1"/>
          </p:cNvSpPr>
          <p:nvPr>
            <p:ph idx="1"/>
          </p:nvPr>
        </p:nvSpPr>
        <p:spPr>
          <a:xfrm>
            <a:off x="1195449" y="2246782"/>
            <a:ext cx="7670132" cy="1014447"/>
          </a:xfrm>
        </p:spPr>
        <p:txBody>
          <a:bodyPr vert="horz" wrap="square" lIns="90237" tIns="45118" rIns="90237" bIns="45118" anchor="t">
            <a:spAutoFit/>
          </a:bodyPr>
          <a:lstStyle/>
          <a:p>
            <a:pPr eaLnBrk="1" hangingPunct="1">
              <a:buNone/>
            </a:pPr>
            <a:r>
              <a:rPr lang="en-US" altLang="zh-CN" b="1" dirty="0"/>
              <a:t>There are a lot of definitions.</a:t>
            </a:r>
          </a:p>
          <a:p>
            <a:pPr eaLnBrk="1" hangingPunct="1">
              <a:buNone/>
            </a:pPr>
            <a:endParaRPr lang="en-US" altLang="zh-CN" b="1" dirty="0"/>
          </a:p>
          <a:p>
            <a:pPr eaLnBrk="1" hangingPunct="1">
              <a:buNone/>
            </a:pPr>
            <a:r>
              <a:rPr lang="en-US" altLang="zh-CN" b="1" dirty="0"/>
              <a:t>Do you know?</a:t>
            </a:r>
          </a:p>
        </p:txBody>
      </p:sp>
      <p:pic>
        <p:nvPicPr>
          <p:cNvPr id="25604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4191000" y="3761899"/>
            <a:ext cx="953503" cy="95350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1219200" y="663167"/>
            <a:ext cx="7119687" cy="522004"/>
          </a:xfrm>
        </p:spPr>
        <p:txBody>
          <a:bodyPr vert="horz" wrap="square" lIns="90237" tIns="45118" rIns="90237" bIns="45118" anchor="b">
            <a:spAutoFit/>
          </a:bodyPr>
          <a:lstStyle/>
          <a:p>
            <a:pPr eaLnBrk="1" hangingPunct="1"/>
            <a:r>
              <a:rPr lang="en-US" altLang="zh-CN" sz="2800" b="1" dirty="0">
                <a:solidFill>
                  <a:schemeClr val="hlink"/>
                </a:solidFill>
                <a:ea typeface="+mn-ea"/>
              </a:rPr>
              <a:t>Definition from Wikipedia</a:t>
            </a:r>
          </a:p>
        </p:txBody>
      </p:sp>
      <p:sp>
        <p:nvSpPr>
          <p:cNvPr id="27651" name="Rectangle 3"/>
          <p:cNvSpPr>
            <a:spLocks noGrp="1"/>
          </p:cNvSpPr>
          <p:nvPr>
            <p:ph idx="1"/>
          </p:nvPr>
        </p:nvSpPr>
        <p:spPr>
          <a:xfrm>
            <a:off x="1219200" y="1981200"/>
            <a:ext cx="4773529" cy="3765393"/>
          </a:xfrm>
        </p:spPr>
        <p:txBody>
          <a:bodyPr vert="horz" wrap="square" lIns="90237" tIns="45118" rIns="90237" bIns="45118" anchor="t">
            <a:spAutoFit/>
          </a:bodyPr>
          <a:lstStyle/>
          <a:p>
            <a:r>
              <a:rPr lang="en-US" altLang="zh-CN" sz="2653" b="1" i="1" dirty="0"/>
              <a:t>An operating system (OS) is an </a:t>
            </a:r>
            <a:r>
              <a:rPr lang="en-US" altLang="zh-CN" sz="2653" b="1" i="1" dirty="0">
                <a:solidFill>
                  <a:schemeClr val="hlink"/>
                </a:solidFill>
              </a:rPr>
              <a:t>interface</a:t>
            </a:r>
            <a:r>
              <a:rPr lang="en-US" altLang="zh-CN" sz="2653" b="1" i="1" dirty="0"/>
              <a:t> between hardware and applications; it is responsible for the management and coordination of activities and the sharing of the limited resources of the computer. </a:t>
            </a:r>
          </a:p>
        </p:txBody>
      </p:sp>
      <p:pic>
        <p:nvPicPr>
          <p:cNvPr id="27652" name="Picture 4">
            <a:hlinkClick r:id="rId3"/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324600" y="1828800"/>
            <a:ext cx="2982327" cy="4408069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" fill="hold"/>
                                        <p:tgtEl>
                                          <p:spTgt spid="2765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1322119" y="808911"/>
            <a:ext cx="7572375" cy="522004"/>
          </a:xfrm>
        </p:spPr>
        <p:txBody>
          <a:bodyPr vert="horz" wrap="square" lIns="90237" tIns="45118" rIns="90237" bIns="45118" anchor="b">
            <a:spAutoFit/>
          </a:bodyPr>
          <a:lstStyle/>
          <a:p>
            <a:pPr eaLnBrk="1" hangingPunct="1"/>
            <a:r>
              <a:rPr lang="en-US" altLang="zh-CN" sz="2800" b="1" dirty="0">
                <a:solidFill>
                  <a:schemeClr val="hlink"/>
                </a:solidFill>
                <a:ea typeface="+mn-ea"/>
              </a:rPr>
              <a:t>Computer System Components </a:t>
            </a:r>
          </a:p>
        </p:txBody>
      </p:sp>
      <p:sp>
        <p:nvSpPr>
          <p:cNvPr id="39939" name="Rectangle 3"/>
          <p:cNvSpPr>
            <a:spLocks noGrp="1"/>
          </p:cNvSpPr>
          <p:nvPr>
            <p:ph idx="1"/>
          </p:nvPr>
        </p:nvSpPr>
        <p:spPr>
          <a:xfrm>
            <a:off x="1295400" y="1981200"/>
            <a:ext cx="7497177" cy="3372144"/>
          </a:xfrm>
        </p:spPr>
        <p:txBody>
          <a:bodyPr vert="horz" wrap="square" lIns="90237" tIns="45118" rIns="90237" bIns="45118" anchor="t">
            <a:spAutoFit/>
          </a:bodyPr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369" b="1" dirty="0"/>
              <a:t>1.	</a:t>
            </a:r>
            <a:r>
              <a:rPr lang="en-US" altLang="zh-CN" sz="2369" b="1" dirty="0">
                <a:solidFill>
                  <a:schemeClr val="hlink"/>
                </a:solidFill>
              </a:rPr>
              <a:t>Hardware</a:t>
            </a:r>
            <a:r>
              <a:rPr lang="en-US" altLang="zh-CN" sz="2369" b="1" dirty="0"/>
              <a:t>  – provides basic computing resources (CPU, memory, I/O devices). 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369" b="1" dirty="0"/>
              <a:t>2.	</a:t>
            </a:r>
            <a:r>
              <a:rPr lang="en-US" altLang="zh-CN" sz="2369" b="1" dirty="0">
                <a:solidFill>
                  <a:schemeClr val="hlink"/>
                </a:solidFill>
              </a:rPr>
              <a:t>Operating system</a:t>
            </a:r>
            <a:r>
              <a:rPr lang="en-US" altLang="zh-CN" sz="2369" b="1" dirty="0"/>
              <a:t> – controls and coordinates the use of the hardware among the various application programs for the various users.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369" b="1" dirty="0"/>
              <a:t>3.	</a:t>
            </a:r>
            <a:r>
              <a:rPr lang="en-US" altLang="zh-CN" sz="2369" b="1" dirty="0">
                <a:solidFill>
                  <a:schemeClr val="hlink"/>
                </a:solidFill>
              </a:rPr>
              <a:t>Application programs</a:t>
            </a:r>
            <a:r>
              <a:rPr lang="en-US" altLang="zh-CN" sz="2369" b="1" dirty="0"/>
              <a:t>– define the ways in which the system resources are used to solve the computing problems of the users (compilers, database systems, video games, business programs).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369" b="1" dirty="0"/>
              <a:t>4.	</a:t>
            </a:r>
            <a:r>
              <a:rPr lang="en-US" altLang="zh-CN" sz="2369" b="1" dirty="0">
                <a:solidFill>
                  <a:schemeClr val="hlink"/>
                </a:solidFill>
              </a:rPr>
              <a:t>Users</a:t>
            </a:r>
            <a:r>
              <a:rPr lang="en-US" altLang="zh-CN" sz="2369" b="1" dirty="0"/>
              <a:t> (people, machines, other computers)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xfrm>
            <a:off x="2636921" y="746037"/>
            <a:ext cx="7119687" cy="645115"/>
          </a:xfrm>
        </p:spPr>
        <p:txBody>
          <a:bodyPr vert="horz" wrap="square" lIns="90237" tIns="45118" rIns="90237" bIns="45118" anchor="b">
            <a:spAutoFit/>
          </a:bodyPr>
          <a:lstStyle/>
          <a:p>
            <a:pPr eaLnBrk="1" hangingPunct="1"/>
            <a:r>
              <a:rPr lang="en-US" altLang="zh-CN" b="1" dirty="0">
                <a:solidFill>
                  <a:srgbClr val="000099"/>
                </a:solidFill>
              </a:rPr>
              <a:t>What is an Operating System? </a:t>
            </a:r>
          </a:p>
        </p:txBody>
      </p:sp>
      <p:sp>
        <p:nvSpPr>
          <p:cNvPr id="37891" name="Rectangle 3"/>
          <p:cNvSpPr>
            <a:spLocks noGrp="1"/>
          </p:cNvSpPr>
          <p:nvPr>
            <p:ph idx="1"/>
          </p:nvPr>
        </p:nvSpPr>
        <p:spPr>
          <a:xfrm>
            <a:off x="2059406" y="1765634"/>
            <a:ext cx="8173954" cy="3634075"/>
          </a:xfrm>
        </p:spPr>
        <p:txBody>
          <a:bodyPr vert="horz" wrap="square" lIns="90237" tIns="45118" rIns="90237" bIns="45118" anchor="t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CN" sz="2747" b="1" dirty="0">
                <a:solidFill>
                  <a:schemeClr val="hlink"/>
                </a:solidFill>
              </a:rPr>
              <a:t>a program</a:t>
            </a:r>
            <a:r>
              <a:rPr lang="en-US" altLang="zh-CN" sz="2747" b="1" dirty="0"/>
              <a:t> that acts as an intermediary between a user of a computer and the computer hardware.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747" b="1" dirty="0"/>
              <a:t>Operating system purpose: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369" b="1" dirty="0"/>
              <a:t>Provide an environment in which a user can execute programs.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747" b="1" dirty="0"/>
              <a:t>Operating system goals:</a:t>
            </a:r>
            <a:endParaRPr lang="en-US" altLang="zh-CN" b="1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369" b="1" dirty="0"/>
              <a:t>Make the computer system convenient to use(</a:t>
            </a:r>
            <a:r>
              <a:rPr lang="en-US" altLang="zh-CN" sz="2369" b="1" dirty="0">
                <a:solidFill>
                  <a:schemeClr val="hlink"/>
                </a:solidFill>
              </a:rPr>
              <a:t>Convenience</a:t>
            </a:r>
            <a:r>
              <a:rPr lang="en-US" altLang="zh-CN" sz="2369" b="1" dirty="0"/>
              <a:t>).</a:t>
            </a:r>
            <a:r>
              <a:rPr lang="en-US" altLang="zh-CN" b="1" dirty="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369" b="1" dirty="0"/>
              <a:t>Use the computer hardware in an efficient manner(</a:t>
            </a:r>
            <a:r>
              <a:rPr lang="en-US" altLang="zh-CN" sz="2369" b="1" dirty="0">
                <a:solidFill>
                  <a:schemeClr val="hlink"/>
                </a:solidFill>
              </a:rPr>
              <a:t>Efficiency</a:t>
            </a:r>
            <a:r>
              <a:rPr lang="en-US" altLang="zh-CN" sz="2369" b="1" dirty="0"/>
              <a:t>).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/>
          </p:cNvSpPr>
          <p:nvPr>
            <p:ph type="title"/>
          </p:nvPr>
        </p:nvSpPr>
        <p:spPr>
          <a:xfrm>
            <a:off x="990600" y="539902"/>
            <a:ext cx="7769392" cy="583560"/>
          </a:xfrm>
        </p:spPr>
        <p:txBody>
          <a:bodyPr vert="horz" wrap="square" lIns="90237" tIns="45118" rIns="90237" bIns="45118" anchor="b">
            <a:spAutoFit/>
          </a:bodyPr>
          <a:lstStyle/>
          <a:p>
            <a:pPr eaLnBrk="1" hangingPunct="1"/>
            <a:r>
              <a:rPr lang="en-US" altLang="zh-CN" sz="3200" b="1" dirty="0">
                <a:solidFill>
                  <a:schemeClr val="hlink"/>
                </a:solidFill>
                <a:ea typeface="+mn-ea"/>
              </a:rPr>
              <a:t>Definitions of an Operating System</a:t>
            </a:r>
          </a:p>
        </p:txBody>
      </p:sp>
      <p:sp>
        <p:nvSpPr>
          <p:cNvPr id="19459" name="Rectangle 3"/>
          <p:cNvSpPr>
            <a:spLocks noGrp="1"/>
          </p:cNvSpPr>
          <p:nvPr>
            <p:ph idx="1"/>
          </p:nvPr>
        </p:nvSpPr>
        <p:spPr>
          <a:xfrm>
            <a:off x="1143000" y="1905000"/>
            <a:ext cx="7707730" cy="2627581"/>
          </a:xfrm>
        </p:spPr>
        <p:txBody>
          <a:bodyPr vert="horz" wrap="square" lIns="90237" tIns="45118" rIns="90237" bIns="45118" anchor="t">
            <a:spAutoFit/>
          </a:bodyPr>
          <a:lstStyle/>
          <a:p>
            <a:pPr eaLnBrk="1" hangingPunct="1"/>
            <a:r>
              <a:rPr lang="en-US" altLang="zh-CN" sz="2747" b="1" dirty="0">
                <a:solidFill>
                  <a:schemeClr val="hlink"/>
                </a:solidFill>
              </a:rPr>
              <a:t>Resource allocator</a:t>
            </a:r>
            <a:r>
              <a:rPr lang="en-US" altLang="zh-CN" sz="2747" b="1" dirty="0"/>
              <a:t> </a:t>
            </a:r>
            <a:r>
              <a:rPr lang="en-US" altLang="zh-CN" sz="2747" b="1" dirty="0">
                <a:latin typeface="Times New Roman" panose="02020603050405020304" pitchFamily="18" charset="0"/>
              </a:rPr>
              <a:t>–</a:t>
            </a:r>
            <a:r>
              <a:rPr lang="en-US" altLang="zh-CN" sz="2747" b="1" dirty="0"/>
              <a:t> manages and allocates resources.          </a:t>
            </a:r>
            <a:endParaRPr lang="zh-CN" altLang="en-US" sz="1990" b="1" dirty="0">
              <a:solidFill>
                <a:srgbClr val="000099"/>
              </a:solidFill>
            </a:endParaRPr>
          </a:p>
          <a:p>
            <a:pPr eaLnBrk="1" hangingPunct="1"/>
            <a:r>
              <a:rPr lang="en-US" altLang="zh-CN" sz="2747" b="1" dirty="0">
                <a:solidFill>
                  <a:schemeClr val="hlink"/>
                </a:solidFill>
              </a:rPr>
              <a:t>Control program</a:t>
            </a:r>
            <a:r>
              <a:rPr lang="en-US" altLang="zh-CN" sz="2747" b="1" dirty="0">
                <a:latin typeface="Times New Roman" panose="02020603050405020304" pitchFamily="18" charset="0"/>
              </a:rPr>
              <a:t>–</a:t>
            </a:r>
            <a:r>
              <a:rPr lang="en-US" altLang="zh-CN" sz="2747" b="1" dirty="0"/>
              <a:t> controls the execution of user programs and operations of I/O devices . </a:t>
            </a:r>
            <a:r>
              <a:rPr lang="en-US" altLang="zh-CN" sz="2747" b="1" dirty="0">
                <a:solidFill>
                  <a:schemeClr val="hlink"/>
                </a:solidFill>
              </a:rPr>
              <a:t>Kernel </a:t>
            </a:r>
            <a:r>
              <a:rPr lang="en-US" altLang="zh-CN" sz="2747" b="1" dirty="0">
                <a:latin typeface="Times New Roman" panose="02020603050405020304" pitchFamily="18" charset="0"/>
              </a:rPr>
              <a:t>–</a:t>
            </a:r>
            <a:r>
              <a:rPr lang="en-US" altLang="zh-CN" sz="2747" b="1" dirty="0"/>
              <a:t> the one program running at all times (all else being application programs).                    </a:t>
            </a:r>
            <a:endParaRPr lang="zh-CN" altLang="en-US" sz="1990" b="1" dirty="0">
              <a:solidFill>
                <a:srgbClr val="000099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/>
          </p:cNvSpPr>
          <p:nvPr>
            <p:ph type="title"/>
          </p:nvPr>
        </p:nvSpPr>
        <p:spPr>
          <a:xfrm>
            <a:off x="914400" y="838200"/>
            <a:ext cx="6238374" cy="583560"/>
          </a:xfrm>
        </p:spPr>
        <p:txBody>
          <a:bodyPr vert="horz" wrap="square" lIns="90237" tIns="45118" rIns="90237" bIns="45118" anchor="b">
            <a:spAutoFit/>
          </a:bodyPr>
          <a:lstStyle/>
          <a:p>
            <a:pPr eaLnBrk="1" hangingPunct="1"/>
            <a:r>
              <a:rPr lang="en-US" altLang="zh-CN" sz="3200" b="1" dirty="0">
                <a:solidFill>
                  <a:schemeClr val="hlink"/>
                </a:solidFill>
                <a:ea typeface="+mn-ea"/>
              </a:rPr>
              <a:t>Our Traditional Definition</a:t>
            </a:r>
          </a:p>
        </p:txBody>
      </p:sp>
      <p:sp>
        <p:nvSpPr>
          <p:cNvPr id="31747" name="Rectangle 3"/>
          <p:cNvSpPr>
            <a:spLocks noGrp="1"/>
          </p:cNvSpPr>
          <p:nvPr>
            <p:ph idx="1"/>
          </p:nvPr>
        </p:nvSpPr>
        <p:spPr>
          <a:xfrm>
            <a:off x="914400" y="1752600"/>
            <a:ext cx="7331744" cy="2744792"/>
          </a:xfrm>
        </p:spPr>
        <p:txBody>
          <a:bodyPr vert="horz" wrap="square" lIns="90237" tIns="45118" rIns="90237" bIns="45118" anchor="t">
            <a:spAutoFit/>
          </a:bodyPr>
          <a:lstStyle/>
          <a:p>
            <a:r>
              <a:rPr lang="en-US" altLang="zh-CN" sz="2653" b="1" i="1" dirty="0">
                <a:solidFill>
                  <a:schemeClr val="hlink"/>
                </a:solidFill>
              </a:rPr>
              <a:t>A set of programs </a:t>
            </a:r>
            <a:r>
              <a:rPr lang="en-US" altLang="zh-CN" sz="2653" b="1" i="1" dirty="0"/>
              <a:t>that control and manage computer hardware and software, and organize computer's workflow so as to make the computer system convenient for users to use reasonably and efficiently.</a:t>
            </a:r>
          </a:p>
          <a:p>
            <a:pPr>
              <a:spcBef>
                <a:spcPct val="50000"/>
              </a:spcBef>
            </a:pPr>
            <a:r>
              <a:rPr lang="en-US" altLang="zh-CN" sz="2653" b="1" dirty="0">
                <a:ea typeface="楷体_GB2312" pitchFamily="49" charset="-122"/>
              </a:rPr>
              <a:t>       </a:t>
            </a:r>
            <a:endParaRPr lang="zh-CN" altLang="en-US" sz="2653" b="1" dirty="0"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" fill="hold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" fill="hold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/>
          </p:cNvSpPr>
          <p:nvPr>
            <p:ph type="title"/>
          </p:nvPr>
        </p:nvSpPr>
        <p:spPr>
          <a:xfrm>
            <a:off x="838200" y="533400"/>
            <a:ext cx="7119687" cy="583560"/>
          </a:xfrm>
        </p:spPr>
        <p:txBody>
          <a:bodyPr vert="horz" wrap="square" lIns="90237" tIns="45118" rIns="90237" bIns="45118" anchor="b">
            <a:spAutoFit/>
          </a:bodyPr>
          <a:lstStyle/>
          <a:p>
            <a:r>
              <a:rPr lang="en-US" altLang="zh-CN" sz="3200" b="1" dirty="0">
                <a:solidFill>
                  <a:schemeClr val="hlink"/>
                </a:solidFill>
                <a:ea typeface="+mn-ea"/>
              </a:rPr>
              <a:t>Operating System Goals </a:t>
            </a:r>
          </a:p>
        </p:txBody>
      </p:sp>
      <p:sp>
        <p:nvSpPr>
          <p:cNvPr id="33795" name="Rectangle 3"/>
          <p:cNvSpPr>
            <a:spLocks noGrp="1"/>
          </p:cNvSpPr>
          <p:nvPr>
            <p:ph idx="1"/>
          </p:nvPr>
        </p:nvSpPr>
        <p:spPr>
          <a:xfrm>
            <a:off x="1066800" y="1676400"/>
            <a:ext cx="7206916" cy="3225245"/>
          </a:xfrm>
        </p:spPr>
        <p:txBody>
          <a:bodyPr vert="horz" wrap="square" lIns="90237" tIns="45118" rIns="90237" bIns="45118" anchor="t">
            <a:spAutoFit/>
          </a:bodyPr>
          <a:lstStyle/>
          <a:p>
            <a:pPr eaLnBrk="1" hangingPunct="1"/>
            <a:r>
              <a:rPr lang="en-US" altLang="zh-CN" sz="2463" b="1" dirty="0"/>
              <a:t>Manage system resources to make them utilized and shared effectively.</a:t>
            </a:r>
            <a:endParaRPr lang="en-US" altLang="zh-CN" sz="2842" b="1" dirty="0"/>
          </a:p>
          <a:p>
            <a:pPr eaLnBrk="1" hangingPunct="1"/>
            <a:r>
              <a:rPr lang="en-US" altLang="zh-CN" sz="2463" b="1" dirty="0"/>
              <a:t>Organize computer’s workflow reasonably in order to improve system performance (</a:t>
            </a:r>
            <a:r>
              <a:rPr lang="en-US" altLang="zh-CN" sz="2274" b="1" i="1" dirty="0">
                <a:solidFill>
                  <a:schemeClr val="tx2"/>
                </a:solidFill>
                <a:latin typeface="Comic Sans MS" panose="030F0702030302020204" pitchFamily="66" charset="0"/>
              </a:rPr>
              <a:t>response time </a:t>
            </a:r>
            <a:r>
              <a:rPr lang="en-US" altLang="zh-CN" sz="2274" b="1" dirty="0">
                <a:latin typeface="Comic Sans MS" panose="030F0702030302020204" pitchFamily="66" charset="0"/>
              </a:rPr>
              <a:t>/</a:t>
            </a:r>
            <a:r>
              <a:rPr lang="en-US" altLang="zh-CN" sz="2274" b="1" i="1" dirty="0">
                <a:solidFill>
                  <a:schemeClr val="tx2"/>
                </a:solidFill>
                <a:latin typeface="Comic Sans MS" panose="030F0702030302020204" pitchFamily="66" charset="0"/>
              </a:rPr>
              <a:t>throughput</a:t>
            </a:r>
            <a:r>
              <a:rPr lang="en-US" altLang="zh-CN" sz="2463" b="1" dirty="0"/>
              <a:t>).</a:t>
            </a:r>
          </a:p>
          <a:p>
            <a:pPr eaLnBrk="1" hangingPunct="1"/>
            <a:r>
              <a:rPr lang="en-US" altLang="zh-CN" sz="2463" b="1" dirty="0"/>
              <a:t>Provide user interfaces to simplify user operations.</a:t>
            </a:r>
          </a:p>
          <a:p>
            <a:pPr eaLnBrk="1" hangingPunct="1">
              <a:buNone/>
            </a:pPr>
            <a:r>
              <a:rPr lang="en-US" altLang="zh-CN" sz="3126" b="1" dirty="0"/>
              <a:t>   </a:t>
            </a:r>
            <a:r>
              <a:rPr lang="en-US" altLang="zh-CN" sz="2369" b="1" dirty="0"/>
              <a:t>(</a:t>
            </a:r>
            <a:r>
              <a:rPr lang="en-US" altLang="zh-CN" sz="2179" b="1" dirty="0">
                <a:solidFill>
                  <a:schemeClr val="hlink"/>
                </a:solidFill>
              </a:rPr>
              <a:t>Convenience</a:t>
            </a:r>
            <a:r>
              <a:rPr lang="zh-CN" altLang="en-US" sz="2179" b="1" dirty="0"/>
              <a:t>、</a:t>
            </a:r>
            <a:r>
              <a:rPr lang="en-US" altLang="zh-CN" sz="2179" b="1" dirty="0">
                <a:solidFill>
                  <a:schemeClr val="hlink"/>
                </a:solidFill>
              </a:rPr>
              <a:t>Efficiency</a:t>
            </a:r>
            <a:r>
              <a:rPr lang="zh-CN" altLang="en-US" sz="2179" b="1" dirty="0"/>
              <a:t>、</a:t>
            </a:r>
            <a:r>
              <a:rPr lang="en-US" altLang="zh-CN" sz="2179" b="1" dirty="0">
                <a:solidFill>
                  <a:schemeClr val="hlink"/>
                </a:solidFill>
              </a:rPr>
              <a:t>Scalability</a:t>
            </a:r>
            <a:r>
              <a:rPr lang="zh-CN" altLang="en-US" sz="2179" b="1" dirty="0"/>
              <a:t>、</a:t>
            </a:r>
            <a:r>
              <a:rPr lang="en-US" altLang="zh-CN" sz="2179" b="1" dirty="0">
                <a:solidFill>
                  <a:schemeClr val="hlink"/>
                </a:solidFill>
              </a:rPr>
              <a:t>Open</a:t>
            </a:r>
            <a:r>
              <a:rPr lang="en-US" altLang="zh-CN" sz="2369" b="1"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" fill="hold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" fill="hold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" fill="hold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/>
          </p:cNvSpPr>
          <p:nvPr>
            <p:ph type="title"/>
          </p:nvPr>
        </p:nvSpPr>
        <p:spPr>
          <a:xfrm>
            <a:off x="532574" y="381000"/>
            <a:ext cx="7566359" cy="583560"/>
          </a:xfrm>
        </p:spPr>
        <p:txBody>
          <a:bodyPr vert="horz" wrap="square" lIns="90237" tIns="45118" rIns="90237" bIns="45118" anchor="b">
            <a:spAutoFit/>
          </a:bodyPr>
          <a:lstStyle/>
          <a:p>
            <a:pPr eaLnBrk="1" hangingPunct="1"/>
            <a:r>
              <a:rPr lang="en-US" altLang="zh-CN" sz="3200" b="1" dirty="0">
                <a:solidFill>
                  <a:schemeClr val="hlink"/>
                </a:solidFill>
                <a:ea typeface="+mn-ea"/>
              </a:rPr>
              <a:t>Abstract View of System Components</a:t>
            </a:r>
          </a:p>
        </p:txBody>
      </p:sp>
      <p:pic>
        <p:nvPicPr>
          <p:cNvPr id="22531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1524000" y="1214817"/>
            <a:ext cx="6062412" cy="360947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1447800" y="4824291"/>
            <a:ext cx="8004008" cy="8046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0237" tIns="45118" rIns="90237" bIns="45118"/>
          <a:lstStyle/>
          <a:p>
            <a:pPr algn="l" defTabSz="905406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defRPr/>
            </a:pPr>
            <a:r>
              <a:rPr lang="en-US" altLang="zh-CN" sz="2463" b="1" i="1" kern="1200" dirty="0"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Virtual machine</a:t>
            </a:r>
            <a:r>
              <a:rPr lang="en-US" altLang="zh-CN" sz="2842" kern="1200" dirty="0"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 </a:t>
            </a:r>
            <a:r>
              <a:rPr lang="en-US" sz="1600" dirty="0"/>
              <a:t>Bare metal becomes a more powerful machine with each additional layer of software, and this "new more powerful machine" is often referred to as a "virtual machine"</a:t>
            </a:r>
            <a:endParaRPr lang="zh-CN" altLang="en-US" sz="2084" kern="1200" dirty="0">
              <a:solidFill>
                <a:srgbClr val="FF33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mic Sans MS" panose="030F0702030302020204" pitchFamily="66" charset="0"/>
              <a:ea typeface="楷体_GB2312" pitchFamily="49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47800" y="4824291"/>
            <a:ext cx="7810901" cy="1915268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l"/>
            <a:r>
              <a:rPr lang="zh-CN" altLang="en-US" sz="2369" b="1" dirty="0">
                <a:solidFill>
                  <a:schemeClr val="bg1"/>
                </a:solidFill>
              </a:rPr>
              <a:t>Virtual machine： After each additional layer of software, a bare machine becomes a more powerful machine.</a:t>
            </a:r>
          </a:p>
          <a:p>
            <a:pPr algn="l"/>
            <a:r>
              <a:rPr lang="zh-CN" altLang="en-US" sz="2369" b="1" dirty="0">
                <a:solidFill>
                  <a:schemeClr val="bg1"/>
                </a:solidFill>
              </a:rPr>
              <a:t> This "new and more powerful machine" is usually called a "virtual machine"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8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页脚占位符 4"/>
          <p:cNvSpPr txBox="1">
            <a:spLocks noGrp="1"/>
          </p:cNvSpPr>
          <p:nvPr>
            <p:ph type="ftr" sz="quarter" idx="11"/>
          </p:nvPr>
        </p:nvSpPr>
        <p:spPr bwMode="auto">
          <a:xfrm>
            <a:off x="3492500" y="6675438"/>
            <a:ext cx="3016250" cy="482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250" tIns="47625" rIns="95250" bIns="47625" numCol="1" anchor="b" anchorCtr="0" compatLnSpc="1"/>
          <a:lstStyle>
            <a:defPPr>
              <a:defRPr lang="en-US"/>
            </a:defPPr>
            <a:lvl1pPr marL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5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lvl="0" algn="ctr" eaLnBrk="1" hangingPunct="1"/>
            <a:endParaRPr lang="en-US" altLang="zh-CN" sz="1184" dirty="0"/>
          </a:p>
        </p:txBody>
      </p:sp>
      <p:sp>
        <p:nvSpPr>
          <p:cNvPr id="10244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7064375" y="6675438"/>
            <a:ext cx="1984375" cy="482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250" tIns="47625" rIns="95250" bIns="47625" numCol="1" anchor="b" anchorCtr="0" compatLnSpc="1"/>
          <a:lstStyle>
            <a:defPPr>
              <a:defRPr lang="en-US"/>
            </a:defPPr>
            <a:lvl1pPr marL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5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lvl="0" algn="ctr" eaLnBrk="1" hangingPunct="1"/>
            <a:fld id="{9A0DB2DC-4C9A-4742-B13C-FB6460FD3503}" type="slidenum">
              <a:rPr lang="en-US" altLang="zh-CN" smtClean="0"/>
              <a:pPr lvl="0" algn="ctr" eaLnBrk="1" hangingPunct="1"/>
              <a:t>27</a:t>
            </a:fld>
            <a:endParaRPr lang="zh-CN" altLang="en-US" sz="1184" dirty="0"/>
          </a:p>
        </p:txBody>
      </p:sp>
      <p:sp>
        <p:nvSpPr>
          <p:cNvPr id="10245" name="Rectangle 2"/>
          <p:cNvSpPr>
            <a:spLocks noGrp="1"/>
          </p:cNvSpPr>
          <p:nvPr>
            <p:ph idx="1"/>
          </p:nvPr>
        </p:nvSpPr>
        <p:spPr>
          <a:xfrm>
            <a:off x="914400" y="1447800"/>
            <a:ext cx="8497303" cy="3138103"/>
          </a:xfrm>
        </p:spPr>
        <p:txBody>
          <a:bodyPr vert="horz" wrap="square" lIns="90236" tIns="45117" rIns="90236" bIns="45117" anchor="t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  <a:p>
            <a:pPr marL="742950" lvl="1" indent="-285750" eaLnBrk="1" hangingPunct="1">
              <a:lnSpc>
                <a:spcPct val="9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404040"/>
                </a:solidFill>
                <a:latin typeface="Trebuchet MS"/>
              </a:rPr>
              <a:t>OS is system software, residing between computer hardware and the other software or users in the system</a:t>
            </a:r>
          </a:p>
          <a:p>
            <a:pPr lvl="1" eaLnBrk="1" hangingPunct="1">
              <a:lnSpc>
                <a:spcPct val="90000"/>
              </a:lnSpc>
              <a:buClr>
                <a:schemeClr val="accent3">
                  <a:lumMod val="75000"/>
                </a:schemeClr>
              </a:buClr>
            </a:pPr>
            <a:endParaRPr lang="en-US" altLang="zh-CN" sz="2000" dirty="0">
              <a:solidFill>
                <a:srgbClr val="404040"/>
              </a:solidFill>
              <a:latin typeface="Trebuchet MS"/>
            </a:endParaRPr>
          </a:p>
          <a:p>
            <a:pPr marL="742950" lvl="1" indent="-285750" eaLnBrk="1" hangingPunct="1">
              <a:lnSpc>
                <a:spcPct val="9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404040"/>
                </a:solidFill>
                <a:latin typeface="Trebuchet MS"/>
              </a:rPr>
              <a:t>OS provides the interfaces for the users and application programs to use computer software and hardware resources conveniently</a:t>
            </a:r>
          </a:p>
          <a:p>
            <a:pPr lvl="1" eaLnBrk="1" hangingPunct="1">
              <a:lnSpc>
                <a:spcPct val="90000"/>
              </a:lnSpc>
              <a:buClr>
                <a:schemeClr val="accent3">
                  <a:lumMod val="75000"/>
                </a:schemeClr>
              </a:buClr>
            </a:pPr>
            <a:endParaRPr lang="en-US" altLang="zh-CN" sz="2000" dirty="0">
              <a:solidFill>
                <a:srgbClr val="404040"/>
              </a:solidFill>
              <a:latin typeface="Trebuchet MS"/>
            </a:endParaRPr>
          </a:p>
          <a:p>
            <a:pPr marL="742950" lvl="1" indent="-285750" eaLnBrk="1" hangingPunct="1">
              <a:lnSpc>
                <a:spcPct val="9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404040"/>
                </a:solidFill>
                <a:latin typeface="Trebuchet MS"/>
              </a:rPr>
              <a:t> it also efficiently manages and controls hardware resources, such as CPU, memory, and I/O devices, to maximize the utilization of these resources.</a:t>
            </a:r>
          </a:p>
          <a:p>
            <a:pPr eaLnBrk="1" hangingPunct="1">
              <a:lnSpc>
                <a:spcPct val="90000"/>
              </a:lnSpc>
            </a:pPr>
            <a:endParaRPr lang="en-US" altLang="zh-CN" dirty="0"/>
          </a:p>
        </p:txBody>
      </p:sp>
      <p:sp>
        <p:nvSpPr>
          <p:cNvPr id="10246" name="Rectangle 6"/>
          <p:cNvSpPr>
            <a:spLocks noGrp="1"/>
          </p:cNvSpPr>
          <p:nvPr>
            <p:ph type="title"/>
          </p:nvPr>
        </p:nvSpPr>
        <p:spPr>
          <a:xfrm>
            <a:off x="838200" y="602675"/>
            <a:ext cx="2819400" cy="583558"/>
          </a:xfrm>
        </p:spPr>
        <p:txBody>
          <a:bodyPr vert="horz" wrap="square" lIns="90236" tIns="45117" rIns="90236" bIns="45117" anchor="b">
            <a:spAutoFit/>
          </a:bodyPr>
          <a:lstStyle/>
          <a:p>
            <a:pPr eaLnBrk="1" hangingPunct="1"/>
            <a:r>
              <a:rPr lang="en-US" altLang="zh-CN" sz="3200" b="1" dirty="0">
                <a:solidFill>
                  <a:schemeClr val="hlink"/>
                </a:solidFill>
                <a:ea typeface="+mn-ea"/>
                <a:sym typeface="+mn-ea"/>
              </a:rPr>
              <a:t>Summary</a:t>
            </a:r>
            <a:endParaRPr lang="en-US" altLang="zh-CN" sz="3200" b="1" dirty="0">
              <a:solidFill>
                <a:schemeClr val="hlink"/>
              </a:solidFill>
              <a:ea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6310" y="629158"/>
            <a:ext cx="4613910" cy="666242"/>
          </a:xfrm>
        </p:spPr>
        <p:txBody>
          <a:bodyPr/>
          <a:lstStyle/>
          <a:p>
            <a:r>
              <a:rPr lang="en-US" altLang="zh-CN" sz="3600" dirty="0">
                <a:latin typeface="Times New Roman" panose="02020603050405020304" pitchFamily="18" charset="0"/>
                <a:sym typeface="+mn-ea"/>
              </a:rPr>
              <a:t>Summary</a:t>
            </a:r>
            <a:br>
              <a:rPr lang="en-US" altLang="zh-CN" sz="3600" dirty="0">
                <a:latin typeface="Times New Roman" panose="02020603050405020304" pitchFamily="18" charset="0"/>
              </a:rPr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6310" y="1905000"/>
            <a:ext cx="7909560" cy="253819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3221" dirty="0">
                <a:latin typeface="Times New Roman" panose="02020603050405020304" pitchFamily="18" charset="0"/>
                <a:sym typeface="+mn-ea"/>
              </a:rPr>
              <a:t>OS as user-machine interaction: </a:t>
            </a:r>
            <a:endParaRPr lang="en-US" altLang="zh-CN" sz="3221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3221" dirty="0">
                <a:latin typeface="Times New Roman" panose="02020603050405020304" pitchFamily="18" charset="0"/>
                <a:sym typeface="+mn-ea"/>
              </a:rPr>
              <a:t>for persons, GUI, MMI, Touch, and other(e.g. audio, video) man-machine interfaces</a:t>
            </a:r>
            <a:endParaRPr lang="en-US" altLang="zh-CN" sz="3221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3221" dirty="0">
                <a:latin typeface="Times New Roman" panose="02020603050405020304" pitchFamily="18" charset="0"/>
                <a:sym typeface="+mn-ea"/>
              </a:rPr>
              <a:t>for system programs or applications, system calls (API) provided by OS</a:t>
            </a:r>
            <a:endParaRPr lang="en-US" altLang="zh-CN" sz="3221" dirty="0"/>
          </a:p>
          <a:p>
            <a:endParaRPr lang="zh-CN" altLang="en-US" dirty="0"/>
          </a:p>
        </p:txBody>
      </p:sp>
      <p:sp>
        <p:nvSpPr>
          <p:cNvPr id="10246" name="Rectangle 6"/>
          <p:cNvSpPr>
            <a:spLocks noGrp="1"/>
          </p:cNvSpPr>
          <p:nvPr/>
        </p:nvSpPr>
        <p:spPr>
          <a:xfrm>
            <a:off x="2801152" y="889134"/>
            <a:ext cx="6918158" cy="90236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0236" tIns="45117" rIns="90236" bIns="45117" anchor="b"/>
          <a:lstStyle>
            <a:lvl1pPr algn="l" defTabSz="955675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955675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defTabSz="955675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defTabSz="955675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defTabSz="955675" rtl="0" eaLnBrk="0" fontAlgn="base" hangingPunct="0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defTabSz="955675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defTabSz="955675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defTabSz="955675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defTabSz="955675" rtl="0" fontAlgn="base">
              <a:spcBef>
                <a:spcPct val="0"/>
              </a:spcBef>
              <a:spcAft>
                <a:spcPct val="0"/>
              </a:spcAft>
              <a:defRPr sz="46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zh-CN" sz="316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9677400" y="6375400"/>
            <a:ext cx="1984375" cy="482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5250" tIns="47625" rIns="95250" bIns="47625" numCol="1" anchor="b" anchorCtr="0" compatLnSpc="1"/>
          <a:lstStyle>
            <a:defPPr>
              <a:defRPr lang="en-US"/>
            </a:defPPr>
            <a:lvl1pPr marL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5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lvl="5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lvl="6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lvl="7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lvl="8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lvl="0" algn="ctr" eaLnBrk="1" hangingPunct="1"/>
            <a:fld id="{9A0DB2DC-4C9A-4742-B13C-FB6460FD3503}" type="slidenum">
              <a:rPr lang="en-US" altLang="zh-CN" smtClean="0"/>
              <a:pPr lvl="0" algn="ctr" eaLnBrk="1" hangingPunct="1"/>
              <a:t>29</a:t>
            </a:fld>
            <a:endParaRPr lang="zh-CN" altLang="en-US" sz="1184" dirty="0"/>
          </a:p>
        </p:txBody>
      </p:sp>
      <p:sp>
        <p:nvSpPr>
          <p:cNvPr id="11269" name="Rectangle 6"/>
          <p:cNvSpPr>
            <a:spLocks noGrp="1"/>
          </p:cNvSpPr>
          <p:nvPr>
            <p:ph idx="1"/>
          </p:nvPr>
        </p:nvSpPr>
        <p:spPr>
          <a:xfrm>
            <a:off x="821155" y="1143000"/>
            <a:ext cx="8271711" cy="3130409"/>
          </a:xfrm>
        </p:spPr>
        <p:txBody>
          <a:bodyPr vert="horz" wrap="square" lIns="90236" tIns="45117" rIns="90236" bIns="45117" anchor="t">
            <a:spAutoFit/>
          </a:bodyPr>
          <a:lstStyle/>
          <a:p>
            <a:pPr lvl="1" eaLnBrk="1" hangingPunct="1"/>
            <a:r>
              <a:rPr lang="en-US" altLang="zh-CN" sz="1975" dirty="0">
                <a:latin typeface="Times New Roman" panose="02020603050405020304" pitchFamily="18" charset="0"/>
              </a:rPr>
              <a:t>PC/Desktop OS :      </a:t>
            </a:r>
          </a:p>
          <a:p>
            <a:pPr lvl="1" eaLnBrk="1" hangingPunct="1">
              <a:buNone/>
            </a:pPr>
            <a:r>
              <a:rPr lang="en-US" altLang="zh-CN" sz="1975" dirty="0">
                <a:latin typeface="Times New Roman" panose="02020603050405020304" pitchFamily="18" charset="0"/>
              </a:rPr>
              <a:t>      Windows, </a:t>
            </a:r>
            <a:r>
              <a:rPr lang="en-US" altLang="zh-CN" sz="1975" dirty="0">
                <a:solidFill>
                  <a:schemeClr val="hlink"/>
                </a:solidFill>
                <a:latin typeface="Times New Roman" panose="02020603050405020304" pitchFamily="18" charset="0"/>
              </a:rPr>
              <a:t>Linux</a:t>
            </a:r>
            <a:r>
              <a:rPr lang="en-US" altLang="zh-CN" sz="1975" dirty="0">
                <a:latin typeface="Times New Roman" panose="02020603050405020304" pitchFamily="18" charset="0"/>
              </a:rPr>
              <a:t>，Mac OS X</a:t>
            </a:r>
          </a:p>
          <a:p>
            <a:pPr lvl="1" eaLnBrk="1" hangingPunct="1"/>
            <a:r>
              <a:rPr lang="en-US" altLang="zh-CN" sz="1975" dirty="0">
                <a:latin typeface="Times New Roman" panose="02020603050405020304" pitchFamily="18" charset="0"/>
              </a:rPr>
              <a:t>Server OS :     </a:t>
            </a:r>
          </a:p>
          <a:p>
            <a:pPr lvl="1" eaLnBrk="1" hangingPunct="1">
              <a:buNone/>
            </a:pPr>
            <a:r>
              <a:rPr lang="en-US" altLang="zh-CN" sz="1975" dirty="0">
                <a:latin typeface="Times New Roman" panose="02020603050405020304" pitchFamily="18" charset="0"/>
              </a:rPr>
              <a:t>      Unix, </a:t>
            </a:r>
            <a:r>
              <a:rPr lang="en-US" altLang="zh-CN" sz="1975" dirty="0">
                <a:solidFill>
                  <a:schemeClr val="hlink"/>
                </a:solidFill>
                <a:latin typeface="Times New Roman" panose="02020603050405020304" pitchFamily="18" charset="0"/>
              </a:rPr>
              <a:t>Linux</a:t>
            </a:r>
            <a:r>
              <a:rPr lang="en-US" altLang="zh-CN" sz="1975" dirty="0">
                <a:latin typeface="Times New Roman" panose="02020603050405020304" pitchFamily="18" charset="0"/>
              </a:rPr>
              <a:t>, Windows NT</a:t>
            </a:r>
          </a:p>
          <a:p>
            <a:pPr lvl="1" eaLnBrk="1" hangingPunct="1">
              <a:buNone/>
            </a:pPr>
            <a:r>
              <a:rPr lang="en-US" altLang="zh-CN" sz="1975" dirty="0">
                <a:latin typeface="Times New Roman" panose="02020603050405020304" pitchFamily="18" charset="0"/>
              </a:rPr>
              <a:t>  Mainframe OS :     </a:t>
            </a:r>
          </a:p>
          <a:p>
            <a:pPr lvl="1" eaLnBrk="1" hangingPunct="1">
              <a:buNone/>
            </a:pPr>
            <a:r>
              <a:rPr lang="en-US" altLang="zh-CN" sz="1975" dirty="0">
                <a:latin typeface="Times New Roman" panose="02020603050405020304" pitchFamily="18" charset="0"/>
              </a:rPr>
              <a:t>      Unix, Linux——open source</a:t>
            </a:r>
            <a:r>
              <a:rPr lang="zh-CN" altLang="en-US" sz="1975" dirty="0">
                <a:latin typeface="Times New Roman" panose="02020603050405020304" pitchFamily="18" charset="0"/>
              </a:rPr>
              <a:t>！！</a:t>
            </a:r>
          </a:p>
          <a:p>
            <a:pPr lvl="1" eaLnBrk="1" hangingPunct="1"/>
            <a:r>
              <a:rPr lang="en-US" altLang="zh-CN" sz="1975" dirty="0">
                <a:latin typeface="Times New Roman" panose="02020603050405020304" pitchFamily="18" charset="0"/>
              </a:rPr>
              <a:t>Embedded OS :       </a:t>
            </a:r>
          </a:p>
          <a:p>
            <a:pPr lvl="1" eaLnBrk="1" hangingPunct="1">
              <a:buNone/>
            </a:pPr>
            <a:r>
              <a:rPr lang="en-US" altLang="zh-CN" sz="1975" dirty="0">
                <a:latin typeface="Times New Roman" panose="02020603050405020304" pitchFamily="18" charset="0"/>
              </a:rPr>
              <a:t>       Vxworks, (Palm OS), (Symbian), </a:t>
            </a:r>
          </a:p>
          <a:p>
            <a:pPr lvl="1" eaLnBrk="1" hangingPunct="1">
              <a:buNone/>
            </a:pPr>
            <a:r>
              <a:rPr lang="en-US" altLang="zh-CN" sz="1975" dirty="0">
                <a:latin typeface="Times New Roman" panose="02020603050405020304" pitchFamily="18" charset="0"/>
              </a:rPr>
              <a:t>      (WinCE)/Windows Mobile/Phone/RT,  Android, iOS,  </a:t>
            </a:r>
          </a:p>
          <a:p>
            <a:pPr lvl="1" eaLnBrk="1" hangingPunct="1">
              <a:buNone/>
            </a:pPr>
            <a:r>
              <a:rPr lang="en-US" altLang="zh-CN" sz="1975" dirty="0">
                <a:latin typeface="Times New Roman" panose="02020603050405020304" pitchFamily="18" charset="0"/>
              </a:rPr>
              <a:t>       embedded </a:t>
            </a:r>
            <a:r>
              <a:rPr lang="en-US" altLang="zh-CN" sz="1975" dirty="0">
                <a:solidFill>
                  <a:schemeClr val="hlink"/>
                </a:solidFill>
                <a:latin typeface="Times New Roman" panose="02020603050405020304" pitchFamily="18" charset="0"/>
              </a:rPr>
              <a:t>Linux</a:t>
            </a:r>
            <a:r>
              <a:rPr lang="en-US" altLang="zh-CN" sz="1975" dirty="0">
                <a:latin typeface="Times New Roman" panose="02020603050405020304" pitchFamily="18" charset="0"/>
              </a:rPr>
              <a:t> (e.g. </a:t>
            </a:r>
            <a:r>
              <a:rPr lang="el-GR" altLang="zh-CN" sz="1975" dirty="0">
                <a:latin typeface="Times New Roman" panose="02020603050405020304" pitchFamily="18" charset="0"/>
              </a:rPr>
              <a:t>μ</a:t>
            </a:r>
            <a:r>
              <a:rPr lang="en-US" altLang="zh-CN" sz="1975" dirty="0">
                <a:latin typeface="Times New Roman" panose="02020603050405020304" pitchFamily="18" charset="0"/>
              </a:rPr>
              <a:t>cLinux)</a:t>
            </a:r>
          </a:p>
        </p:txBody>
      </p:sp>
      <p:sp>
        <p:nvSpPr>
          <p:cNvPr id="11271" name="Rectangle 11"/>
          <p:cNvSpPr>
            <a:spLocks noGrp="1"/>
          </p:cNvSpPr>
          <p:nvPr>
            <p:ph type="title"/>
          </p:nvPr>
        </p:nvSpPr>
        <p:spPr>
          <a:xfrm>
            <a:off x="727911" y="381000"/>
            <a:ext cx="8458200" cy="583558"/>
          </a:xfrm>
        </p:spPr>
        <p:txBody>
          <a:bodyPr vert="horz" wrap="square" lIns="90236" tIns="45117" rIns="90236" bIns="45117" anchor="b">
            <a:spAutoFit/>
          </a:bodyPr>
          <a:lstStyle/>
          <a:p>
            <a:pPr eaLnBrk="1" hangingPunct="1"/>
            <a:r>
              <a:rPr lang="en-US" altLang="zh-CN" sz="3200" dirty="0">
                <a:latin typeface="Times New Roman" panose="02020603050405020304" pitchFamily="18" charset="0"/>
                <a:sym typeface="+mn-ea"/>
              </a:rPr>
              <a:t>Commonly acknowledged classifications of OS</a:t>
            </a:r>
            <a:endParaRPr lang="en-US" altLang="zh-CN" sz="3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99C93B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</TotalTime>
  <Words>2513</Words>
  <Application>Microsoft Office PowerPoint</Application>
  <PresentationFormat>Widescreen</PresentationFormat>
  <Paragraphs>223</Paragraphs>
  <Slides>29</Slides>
  <Notes>14</Notes>
  <HiddenSlides>2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4" baseType="lpstr">
      <vt:lpstr>Arial MT</vt:lpstr>
      <vt:lpstr>楷体_GB2312</vt:lpstr>
      <vt:lpstr>Malgun Gothic</vt:lpstr>
      <vt:lpstr>SimSun</vt:lpstr>
      <vt:lpstr>SimSun</vt:lpstr>
      <vt:lpstr>Arial</vt:lpstr>
      <vt:lpstr>Calibri</vt:lpstr>
      <vt:lpstr>Comic Sans MS</vt:lpstr>
      <vt:lpstr>Lucida Sans Unicode</vt:lpstr>
      <vt:lpstr>Roboto</vt:lpstr>
      <vt:lpstr>Tahoma</vt:lpstr>
      <vt:lpstr>Times New Roman</vt:lpstr>
      <vt:lpstr>Trebuchet MS</vt:lpstr>
      <vt:lpstr>Wingdings</vt:lpstr>
      <vt:lpstr>Office Theme</vt:lpstr>
      <vt:lpstr>Operating Systems Lecture 0 - Introduction</vt:lpstr>
      <vt:lpstr>Welcome！</vt:lpstr>
      <vt:lpstr>Teaching Staff</vt:lpstr>
      <vt:lpstr>Schedule</vt:lpstr>
      <vt:lpstr>Academic Honesty</vt:lpstr>
      <vt:lpstr>Academic Honesty</vt:lpstr>
      <vt:lpstr>Late submission policy</vt:lpstr>
      <vt:lpstr>Important!</vt:lpstr>
      <vt:lpstr>PowerPoint Presentation</vt:lpstr>
      <vt:lpstr>About This Course</vt:lpstr>
      <vt:lpstr>Textbook &amp; References</vt:lpstr>
      <vt:lpstr>Lecture Format</vt:lpstr>
      <vt:lpstr>Course Outline 1-8 (Overview and Process Management)</vt:lpstr>
      <vt:lpstr>Course Outline(9-15) (Storage Management , Protection and Security)</vt:lpstr>
      <vt:lpstr>PowerPoint Presentation</vt:lpstr>
      <vt:lpstr>PowerPoint Presentation</vt:lpstr>
      <vt:lpstr>PowerPoint Presentation</vt:lpstr>
      <vt:lpstr>Chapter 1:  Introduction</vt:lpstr>
      <vt:lpstr>What is an Operating System? </vt:lpstr>
      <vt:lpstr>Definition from Wikipedia</vt:lpstr>
      <vt:lpstr>Computer System Components </vt:lpstr>
      <vt:lpstr>What is an Operating System? </vt:lpstr>
      <vt:lpstr>Definitions of an Operating System</vt:lpstr>
      <vt:lpstr>Our Traditional Definition</vt:lpstr>
      <vt:lpstr>Operating System Goals </vt:lpstr>
      <vt:lpstr>Abstract View of System Components</vt:lpstr>
      <vt:lpstr>Summary</vt:lpstr>
      <vt:lpstr>Summary </vt:lpstr>
      <vt:lpstr>Commonly acknowledged classifications of 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Requirements Engineering</dc:title>
  <dc:creator>Wanru Gao</dc:creator>
  <cp:lastModifiedBy>Junaid Abdul Wahid</cp:lastModifiedBy>
  <cp:revision>14</cp:revision>
  <dcterms:created xsi:type="dcterms:W3CDTF">2025-02-16T03:39:39Z</dcterms:created>
  <dcterms:modified xsi:type="dcterms:W3CDTF">2025-02-16T08:19:05Z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2023-09-18T00:00:00Z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2025-02-16T00:00:00Z</vt:filetime>
  </property>
  <property fmtid="{D5CDD505-2E9C-101B-9397-08002B2CF9AE}" pid="5" name="Producer">
    <vt:lpwstr>Microsoft® PowerPoint® 2019</vt:lpwstr>
  </property>
</Properties>
</file>