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31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313" r:id="rId16"/>
    <p:sldId id="314" r:id="rId17"/>
    <p:sldId id="315" r:id="rId18"/>
    <p:sldId id="316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402" autoAdjust="0"/>
  </p:normalViewPr>
  <p:slideViewPr>
    <p:cSldViewPr snapToGrid="0" snapToObjects="1">
      <p:cViewPr varScale="1">
        <p:scale>
          <a:sx n="67" d="100"/>
          <a:sy n="67" d="100"/>
        </p:scale>
        <p:origin x="10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01 • WEEK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Analysis of Algorithms</a:t>
            </a:r>
            <a:endParaRPr lang="en-US" altLang="en-US" sz="2900" b="1" dirty="0">
              <a:solidFill>
                <a:srgbClr val="10243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647" y="265176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C++ basics to thinking like an algorithm designer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10789920" cy="1280160"/>
          </a:xfrm>
          <a:prstGeom prst="roundRect">
            <a:avLst>
              <a:gd name="adj" fmla="val 10714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647" y="470916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Software Engineering Students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527" y="51663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</a:t>
            </a:r>
            <a:endParaRPr lang="en-US" sz="2000" dirty="0"/>
          </a:p>
        </p:txBody>
      </p:sp>
      <p:sp>
        <p:nvSpPr>
          <p:cNvPr id="12" name="Text Box 11"/>
          <p:cNvSpPr txBox="1"/>
          <p:nvPr/>
        </p:nvSpPr>
        <p:spPr>
          <a:xfrm>
            <a:off x="731520" y="1854835"/>
            <a:ext cx="84016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sz="28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Algorithms &amp; Programming Review</a:t>
            </a:r>
            <a:endParaRPr lang="en-US" sz="2800" b="1" dirty="0">
              <a:solidFill>
                <a:srgbClr val="2463A6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01 • WEEK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 Your Instructor</a:t>
            </a:r>
            <a:endParaRPr lang="en-US" altLang="en-US" sz="2900" b="1" dirty="0">
              <a:solidFill>
                <a:srgbClr val="10243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647" y="2190115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endParaRPr lang="en-US" sz="1600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0670" y="1692910"/>
            <a:ext cx="10972800" cy="3472815"/>
          </a:xfrm>
          <a:prstGeom prst="roundRect">
            <a:avLst>
              <a:gd name="adj" fmla="val 10714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  <p:txBody>
          <a:bodyPr/>
          <a:lstStyle/>
          <a:p>
            <a:pPr marL="0" algn="l">
              <a:buClrTx/>
              <a:buSzTx/>
              <a:buFontTx/>
              <a:buNone/>
            </a:pPr>
            <a:r>
              <a:rPr lang="en-US" sz="2400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Dr Hussain</a:t>
            </a:r>
            <a:endParaRPr lang="en-US" sz="2400" b="1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Assistant Professor</a:t>
            </a:r>
            <a:endParaRPr lang="en-US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School of Computer Science and Artificial Intelligence</a:t>
            </a:r>
            <a:endParaRPr lang="en-US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Zhengzhou University, China</a:t>
            </a:r>
            <a:endParaRPr lang="en-US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endParaRPr lang="en-US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endParaRPr lang="en-US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  <a:sym typeface="+mn-ea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- PhD in Software Engineering, Zhengzhou University (2023)</a:t>
            </a:r>
            <a:endParaRPr lang="en-US" b="1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- Former Postdoctoral Research Fellow, Tsinghua University, Shenzhen, China (2024–2026)</a:t>
            </a:r>
            <a:endParaRPr lang="en-US" b="1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- Research Areas: Artificial Intelligence, Machine Learning, Deep Learning, and Biomedical AI</a:t>
            </a:r>
            <a:endParaRPr lang="en-US" b="1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- Teaching Experience: Over 14 years in Computer Science and Software Engineering</a:t>
            </a:r>
            <a:endParaRPr lang="en-US" b="1" dirty="0">
              <a:solidFill>
                <a:srgbClr val="17324B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algn="l">
              <a:buClrTx/>
              <a:buSzTx/>
              <a:buFontTx/>
              <a:buNone/>
            </a:pPr>
            <a:r>
              <a:rPr lang="en-US" b="1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  <a:sym typeface="+mn-ea"/>
              </a:rPr>
              <a:t>- Tsinghua University Ranking: #14 worldwide in the QS World University Rankings 2027.</a:t>
            </a:r>
            <a:endParaRPr 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learning goals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47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46504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an algorithm in everyday language.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688336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C++ variables, loops, arrays and decisions.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07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63016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simple pseudocode and trace a program.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08576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72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572000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why running time and memory matter.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 we use algorithms?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short route.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81928" y="17830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Shopping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10528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products by price.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416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Messaging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4400" y="45537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for a contact.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81928" y="3840480"/>
            <a:ext cx="5303520" cy="1746504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0416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apps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510528" y="45537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or rank content.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= clear steps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36499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42032"/>
            <a:ext cx="314553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5137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97680" y="2240280"/>
            <a:ext cx="3364992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7408" y="2542032"/>
            <a:ext cx="314553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1753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2240280"/>
            <a:ext cx="336499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2542032"/>
            <a:ext cx="314553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206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to explain each step in your own words.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an algorithm useful?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47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46504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Instructions must be clear.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688336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steps must eventually stop.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07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63016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should produce the intended result.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08576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72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572000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should work for the allowed inputs.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example is an algorithm?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“Make it better”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A finite recipe with ordered steps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“Try something”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An instruction without an ending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Make a cup of tea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5983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0614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586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 water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3445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Steep tea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0907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75538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510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programmer’s problem-solving method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938528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42032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24912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71216" y="2240280"/>
            <a:ext cx="1938528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80944" y="2542032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64608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10912" y="2240280"/>
            <a:ext cx="1938528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542032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04304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50608" y="2240280"/>
            <a:ext cx="1938528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0336" y="2542032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0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290304" y="2240280"/>
            <a:ext cx="1938528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0032" y="2542032"/>
            <a:ext cx="1719072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Input, process, output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533525" cy="1088135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842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95005" y="1775612"/>
            <a:ext cx="1869568" cy="1060703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9132" y="2002748"/>
            <a:ext cx="4099385" cy="55641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81728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14381" y="1677306"/>
            <a:ext cx="1748394" cy="1193909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1803" y="2092269"/>
            <a:ext cx="2821943" cy="406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449056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8" name="TextBox 17"/>
          <p:cNvSpPr txBox="1"/>
          <p:nvPr/>
        </p:nvSpPr>
        <p:spPr>
          <a:xfrm>
            <a:off x="319088" y="3813047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Problem: </a:t>
            </a:r>
            <a:r>
              <a:rPr lang="en-US" dirty="0"/>
              <a:t>Write an algorithm to search for a person's name in a phone's contact list.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38913" y="3730752"/>
            <a:ext cx="61055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Algorithm:</a:t>
            </a: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Start.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Open the phone's contact list.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Enter the name you want to search for.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Check each contact one by one.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If the name matches, display the contact details and stop.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If no match is found after checking all contacts, display "Contact not found."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End.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variables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 = 5;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b = 7;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sum = a + b;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 &lt;&lt; sum;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values are stored?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printed?</a:t>
            </a:r>
            <a:endParaRPr lang="en-US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4" y="257175"/>
            <a:ext cx="11496676" cy="60674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variables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 = 5;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b = 7;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sum = a + b;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 &lt;&lt; sum;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values are stored?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printed?</a:t>
            </a:r>
            <a:endParaRPr lang="en-US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74" y="257175"/>
            <a:ext cx="11496676" cy="606742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0" y="1190475"/>
            <a:ext cx="10769550" cy="11717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variables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 = 5;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b = 7;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sum = a + b;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 &lt;&lt; sum;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values are stored?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printed?</a:t>
            </a:r>
            <a:endParaRPr lang="en-US" sz="2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25" y="153032"/>
            <a:ext cx="11563350" cy="618109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variables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 = 5;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b = 7;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sum = a + b;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 &lt;&lt; sum;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values are stored?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printed?</a:t>
            </a:r>
            <a:endParaRPr lang="en-US" sz="2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" y="255989"/>
            <a:ext cx="11925300" cy="60209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variables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 = 5;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b = 7;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sum = a + b;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 &lt;&lt; sum;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values are stored?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printed?</a:t>
            </a:r>
            <a:endParaRPr lang="en-US" sz="2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86" y="173736"/>
            <a:ext cx="12020628" cy="60578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C++ code print?  int x=4; x=x+3; cout&lt;&lt;x;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7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43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if / else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score = 65;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(score &gt;= 60) {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cout &lt;&lt; "Pass";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else {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cout &lt;&lt; "Try again";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output.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if score becomes 50?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for loop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(int i=0; i&lt;4; i++) {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cout &lt;&lt; i &lt;&lt; " ";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i each time.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repetitions?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refresher: while loop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i = 1;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(i &lt;= 3) {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cout &lt;&lt; i &lt;&lt; " ";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i++;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condition ends the loop?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without i++?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Arrays: values and indices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16936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6936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16936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56632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56632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96328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6328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96328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336024" y="2148840"/>
            <a:ext cx="20574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242316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36024" y="329184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8587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(starts at 0)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7365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a[0] = 8, a[2] = 11, and a[4] = 2.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int a[]={8,3,11,6,2}; what is a[2]?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3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6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2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an array with a loop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a[] = {8, 3, 11};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(int i=0; i&lt;3; i++) {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cout &lt;&lt; a[i] &lt;&lt; " ";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loop print?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index is visited last?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sum of an array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a[] = {2, 4, 6};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total = 0;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(int i=0; i&lt;3; i++)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total += a[i];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cout &lt;&lt; total;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total after each iteration.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a sum step by step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34290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429000" cy="1024128"/>
          </a:xfrm>
          <a:prstGeom prst="roundRect">
            <a:avLst>
              <a:gd name="adj" fmla="val 1339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4231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43400" y="3291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09560" y="2148840"/>
            <a:ext cx="3429000" cy="1024128"/>
          </a:xfrm>
          <a:prstGeom prst="roundRect">
            <a:avLst>
              <a:gd name="adj" fmla="val 1339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242316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909560" y="32918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385876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 (starts at 0)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36592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Running totals: 0 → 2 → 6 → 12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tables make code easier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34747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842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0; total = 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53128" y="1783080"/>
            <a:ext cx="3474720" cy="1746504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9842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81728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1; total = 6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0456" y="1783080"/>
            <a:ext cx="3474720" cy="1746504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98424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449056" y="2496312"/>
            <a:ext cx="30175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2; total = 12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965960"/>
            <a:ext cx="10387584" cy="20025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algn="ctr"/>
            <a:r>
              <a:rPr lang="en-US" sz="1000" dirty="0"/>
              <a:t>#include &lt;iostream&gt;</a:t>
            </a:r>
            <a:endParaRPr lang="en-US" sz="1000" dirty="0"/>
          </a:p>
          <a:p>
            <a:pPr algn="ctr"/>
            <a:r>
              <a:rPr lang="en-US" sz="1000" dirty="0"/>
              <a:t>using namespace std;</a:t>
            </a:r>
            <a:endParaRPr lang="en-US" sz="1000" dirty="0"/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int main() {</a:t>
            </a:r>
            <a:endParaRPr lang="en-US" sz="1000" dirty="0"/>
          </a:p>
          <a:p>
            <a:pPr algn="ctr"/>
            <a:r>
              <a:rPr lang="en-US" sz="1000" dirty="0"/>
              <a:t>    int </a:t>
            </a:r>
            <a:r>
              <a:rPr lang="en-US" sz="1000" dirty="0" err="1"/>
              <a:t>arr</a:t>
            </a:r>
            <a:r>
              <a:rPr lang="en-US" sz="1000" dirty="0"/>
              <a:t>[] = {3, 5, 7, 9, 11};</a:t>
            </a:r>
            <a:endParaRPr lang="en-US" sz="1000" dirty="0"/>
          </a:p>
          <a:p>
            <a:pPr algn="ctr"/>
            <a:r>
              <a:rPr lang="en-US" sz="1000" dirty="0"/>
              <a:t>    int result = 0;</a:t>
            </a:r>
            <a:endParaRPr lang="en-US" sz="1000" dirty="0"/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    for (int </a:t>
            </a:r>
            <a:r>
              <a:rPr lang="en-US" sz="1000" dirty="0" err="1"/>
              <a:t>i</a:t>
            </a:r>
            <a:r>
              <a:rPr lang="en-US" sz="1000" dirty="0"/>
              <a:t> = 0; </a:t>
            </a:r>
            <a:r>
              <a:rPr lang="en-US" sz="1000" dirty="0" err="1"/>
              <a:t>i</a:t>
            </a:r>
            <a:r>
              <a:rPr lang="en-US" sz="1000" dirty="0"/>
              <a:t> &lt; 5; </a:t>
            </a:r>
            <a:r>
              <a:rPr lang="en-US" sz="1000" dirty="0" err="1"/>
              <a:t>i</a:t>
            </a:r>
            <a:r>
              <a:rPr lang="en-US" sz="1000" dirty="0"/>
              <a:t>++) {</a:t>
            </a:r>
            <a:endParaRPr lang="en-US" sz="1000" dirty="0"/>
          </a:p>
          <a:p>
            <a:pPr algn="ctr"/>
            <a:r>
              <a:rPr lang="en-US" sz="1000" dirty="0"/>
              <a:t>        if (</a:t>
            </a:r>
            <a:r>
              <a:rPr lang="en-US" sz="1000" dirty="0" err="1"/>
              <a:t>i</a:t>
            </a:r>
            <a:r>
              <a:rPr lang="en-US" sz="1000" dirty="0"/>
              <a:t> % 2 == 0)</a:t>
            </a:r>
            <a:endParaRPr lang="en-US" sz="1000" dirty="0"/>
          </a:p>
          <a:p>
            <a:pPr algn="ctr"/>
            <a:r>
              <a:rPr lang="en-US" sz="1000" dirty="0"/>
              <a:t>            result += </a:t>
            </a:r>
            <a:r>
              <a:rPr lang="en-US" sz="1000" dirty="0" err="1"/>
              <a:t>arr</a:t>
            </a:r>
            <a:r>
              <a:rPr lang="en-US" sz="1000" dirty="0"/>
              <a:t>[</a:t>
            </a:r>
            <a:r>
              <a:rPr lang="en-US" sz="1000" dirty="0" err="1"/>
              <a:t>i</a:t>
            </a:r>
            <a:r>
              <a:rPr lang="en-US" sz="1000" dirty="0"/>
              <a:t>];</a:t>
            </a:r>
            <a:endParaRPr lang="en-US" sz="1000" dirty="0"/>
          </a:p>
          <a:p>
            <a:pPr algn="ctr"/>
            <a:r>
              <a:rPr lang="en-US" sz="1000" dirty="0"/>
              <a:t>        else</a:t>
            </a:r>
            <a:endParaRPr lang="en-US" sz="1000" dirty="0"/>
          </a:p>
          <a:p>
            <a:pPr algn="ctr"/>
            <a:r>
              <a:rPr lang="en-US" sz="1000" dirty="0"/>
              <a:t>            result -= </a:t>
            </a:r>
            <a:r>
              <a:rPr lang="en-US" sz="1000" dirty="0" err="1"/>
              <a:t>arr</a:t>
            </a:r>
            <a:r>
              <a:rPr lang="en-US" sz="1000" dirty="0"/>
              <a:t>[</a:t>
            </a:r>
            <a:r>
              <a:rPr lang="en-US" sz="1000" dirty="0" err="1"/>
              <a:t>i</a:t>
            </a:r>
            <a:r>
              <a:rPr lang="en-US" sz="1000" dirty="0"/>
              <a:t>];</a:t>
            </a:r>
            <a:endParaRPr lang="en-US" sz="1000" dirty="0"/>
          </a:p>
          <a:p>
            <a:pPr algn="ctr"/>
            <a:r>
              <a:rPr lang="en-US" sz="1000" dirty="0"/>
              <a:t>    }</a:t>
            </a:r>
            <a:endParaRPr lang="en-US" sz="1000" dirty="0"/>
          </a:p>
          <a:p>
            <a:pPr algn="ctr"/>
            <a:endParaRPr lang="en-US" sz="1000" dirty="0"/>
          </a:p>
          <a:p>
            <a:pPr algn="ctr"/>
            <a:r>
              <a:rPr lang="en-US" sz="1000" dirty="0"/>
              <a:t>    </a:t>
            </a:r>
            <a:r>
              <a:rPr lang="en-US" sz="1000" dirty="0" err="1"/>
              <a:t>cout</a:t>
            </a:r>
            <a:r>
              <a:rPr lang="en-US" sz="1000" dirty="0"/>
              <a:t> &lt;&lt; result;</a:t>
            </a:r>
            <a:endParaRPr lang="en-US" sz="1000" dirty="0"/>
          </a:p>
          <a:p>
            <a:pPr algn="ctr"/>
            <a:r>
              <a:rPr lang="en-US" sz="1000" dirty="0"/>
              <a:t>    return 0;</a:t>
            </a:r>
            <a:endParaRPr lang="en-US" sz="1000" dirty="0"/>
          </a:p>
          <a:p>
            <a:pPr algn="ctr"/>
            <a:r>
              <a:rPr lang="en-US" sz="1000" dirty="0"/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63706" y="4626311"/>
            <a:ext cx="1335578" cy="566930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0850" y="4683109"/>
            <a:ext cx="1227288" cy="2998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7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890237" y="4661920"/>
            <a:ext cx="1335578" cy="566930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97381" y="4718718"/>
            <a:ext cx="1227288" cy="2998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11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63706" y="5860751"/>
            <a:ext cx="1335578" cy="566930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0850" y="5917549"/>
            <a:ext cx="1227288" cy="2998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15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890237" y="5896360"/>
            <a:ext cx="1335578" cy="566930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97381" y="5953158"/>
            <a:ext cx="1227288" cy="2998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25</a:t>
            </a:r>
            <a:endParaRPr lang="en-US" sz="2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3690" y="1701711"/>
            <a:ext cx="4939145" cy="45512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pseudocode?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47088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44168" y="1746504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instructions for a solution.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85800" y="2724912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889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44168" y="2688336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of C++ or Python syntax.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85800" y="3666744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07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44168" y="3630168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read, explain and revise.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85800" y="4608576"/>
            <a:ext cx="411480" cy="411480"/>
          </a:xfrm>
          <a:prstGeom prst="roundRect">
            <a:avLst>
              <a:gd name="adj" fmla="val 33333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7258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44168" y="4572000"/>
            <a:ext cx="9875520" cy="713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before writing the actual program.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Pseudocode: find the larger number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a,b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5983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0614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586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a,b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3445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2463A6"/>
          </a:solidFill>
          <a:ln w="12700">
            <a:solidFill>
              <a:srgbClr val="2463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larger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09076" y="25968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59E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755380" y="2240280"/>
            <a:ext cx="2473452" cy="1234440"/>
          </a:xfrm>
          <a:prstGeom prst="roundRect">
            <a:avLst>
              <a:gd name="adj" fmla="val 11111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5108" y="2542032"/>
            <a:ext cx="2253996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result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to explain each step in your own words.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REVIEW • READ, TRACE, EXPLAIN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C++: maximum of two numbers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783080"/>
            <a:ext cx="6583680" cy="4087368"/>
          </a:xfrm>
          <a:prstGeom prst="roundRect">
            <a:avLst>
              <a:gd name="adj" fmla="val 3356"/>
            </a:avLst>
          </a:prstGeom>
          <a:solidFill>
            <a:srgbClr val="10243B"/>
          </a:solidFill>
          <a:ln w="12700">
            <a:solidFill>
              <a:srgbClr val="102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075688"/>
            <a:ext cx="5989320" cy="3566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a = 9, b = 14;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(a &gt; b) cout &lt;&lt; a;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D9F4F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else cout &lt;&lt; b;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3886200" cy="4087368"/>
          </a:xfrm>
          <a:prstGeom prst="roundRect">
            <a:avLst>
              <a:gd name="adj" fmla="val 3529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207568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ABOUT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227832" cy="2468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pseudocode for this program.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output?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06 • 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Flowchart symbols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752600" cy="1645901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842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Oval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24963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/ End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38628" y="1746885"/>
            <a:ext cx="2185797" cy="1719061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7228" y="1948053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Parallelogram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967228" y="2460117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/ Output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685925" cy="1719073"/>
          </a:xfrm>
          <a:prstGeom prst="roundRect">
            <a:avLst>
              <a:gd name="adj" fmla="val 7853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4164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Rectangle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4400" y="4553712"/>
            <a:ext cx="4846320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43403" y="3876677"/>
            <a:ext cx="2081022" cy="1783459"/>
          </a:xfrm>
          <a:prstGeom prst="roundRect">
            <a:avLst>
              <a:gd name="adj" fmla="val 785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002" y="4077846"/>
            <a:ext cx="5588051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463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Diamond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072002" y="4589910"/>
            <a:ext cx="5588051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8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4653" y="1591439"/>
            <a:ext cx="3695890" cy="470559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1818" y="1662472"/>
            <a:ext cx="3257490" cy="31156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oundRect">
            <a:avLst>
              <a:gd name="adj" fmla="val 93750"/>
            </a:avLst>
          </a:prstGeom>
          <a:solidFill>
            <a:srgbClr val="0B9FA6"/>
          </a:solidFill>
          <a:ln w="12700">
            <a:solidFill>
              <a:srgbClr val="0B9F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3832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9F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QUIZ • DISCUSS BEFORE REVEALING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99616"/>
            <a:ext cx="10972800" cy="0"/>
          </a:xfrm>
          <a:prstGeom prst="line">
            <a:avLst/>
          </a:prstGeom>
          <a:noFill/>
          <a:ln w="12700">
            <a:solidFill>
              <a:srgbClr val="D9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01384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Hussain  |  Zhengzhou University  |  Software Engineering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064240" y="6473952"/>
            <a:ext cx="502920" cy="2103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5A7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10789920" cy="1097280"/>
          </a:xfrm>
          <a:prstGeom prst="roundRect">
            <a:avLst>
              <a:gd name="adj" fmla="val 12500"/>
            </a:avLst>
          </a:prstGeom>
          <a:solidFill>
            <a:srgbClr val="EDF5FA"/>
          </a:solidFill>
          <a:ln w="12700">
            <a:solidFill>
              <a:srgbClr val="EDF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965960"/>
            <a:ext cx="1014984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flowchart shape represents a decision?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 Rectangle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92240" y="318211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341985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 Diamond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F0F5FB"/>
          </a:solidFill>
          <a:ln w="12700">
            <a:solidFill>
              <a:srgbClr val="F0F5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6128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 Oval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92240" y="4416552"/>
            <a:ext cx="5074920" cy="950976"/>
          </a:xfrm>
          <a:prstGeom prst="roundRect">
            <a:avLst>
              <a:gd name="adj" fmla="val 1442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39128" y="465429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32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 Arrow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7470</Words>
  <Application>WPS Presentation</Application>
  <PresentationFormat>Widescreen</PresentationFormat>
  <Paragraphs>664</Paragraphs>
  <Slides>31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6" baseType="lpstr">
      <vt:lpstr>Arial</vt:lpstr>
      <vt:lpstr>SimSun</vt:lpstr>
      <vt:lpstr>Wingdings</vt:lpstr>
      <vt:lpstr>Aptos</vt:lpstr>
      <vt:lpstr>Segoe UI</vt:lpstr>
      <vt:lpstr>Aptos</vt:lpstr>
      <vt:lpstr>Aptos</vt:lpstr>
      <vt:lpstr>Calibri</vt:lpstr>
      <vt:lpstr>Microsoft YaHei</vt:lpstr>
      <vt:lpstr>Arial Unicode MS</vt:lpstr>
      <vt:lpstr>Consolas</vt:lpstr>
      <vt:lpstr>Consolas</vt:lpstr>
      <vt:lpstr>Consolas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and Programming Review</dc:title>
  <dc:creator>Dr Hussain</dc:creator>
  <dc:subject>Week 6 Algorithms and Programming Review</dc:subject>
  <cp:lastModifiedBy>Shabir Hussain</cp:lastModifiedBy>
  <cp:revision>36</cp:revision>
  <dcterms:created xsi:type="dcterms:W3CDTF">2026-10-10T13:15:00Z</dcterms:created>
  <dcterms:modified xsi:type="dcterms:W3CDTF">2026-10-25T18:58:15Z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7612DC4CBC22412EBCC76877E3732B5F_13</vt:lpwstr>
  </property>
  <property fmtid="{D5CDD505-2E9C-101B-9397-08002B2CF9AE}" pid="3" name="KSOProductBuildVer">
    <vt:lpwstr>1033-12.1.0.29162</vt:lpwstr>
  </property>
</Properties>
</file>