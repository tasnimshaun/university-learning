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77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5" r:id="rId24"/>
    <p:sldId id="336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05" r:id="rId42"/>
    <p:sldId id="306" r:id="rId43"/>
    <p:sldId id="307" r:id="rId44"/>
    <p:sldId id="30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402" autoAdjust="0"/>
  </p:normalViewPr>
  <p:slideViewPr>
    <p:cSldViewPr snapToGrid="0" snapToObjects="1">
      <p:cViewPr varScale="1">
        <p:scale>
          <a:sx n="67" d="100"/>
          <a:sy n="67" d="100"/>
        </p:scale>
        <p:origin x="10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02 • WEEK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Analysis of Algorithms</a:t>
            </a:r>
            <a:endParaRPr lang="en-US" altLang="en-US" sz="2900" b="1" dirty="0">
              <a:solidFill>
                <a:srgbClr val="10243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01</a:t>
            </a:r>
          </a:p>
        </p:txBody>
      </p:sp>
      <p:sp>
        <p:nvSpPr>
          <p:cNvPr id="8" name="Text 6"/>
          <p:cNvSpPr/>
          <p:nvPr/>
        </p:nvSpPr>
        <p:spPr>
          <a:xfrm>
            <a:off x="731647" y="265176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C++ basics to thinking like an algorithm designer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10789920" cy="1280160"/>
          </a:xfrm>
          <a:prstGeom prst="roundRect">
            <a:avLst>
              <a:gd name="adj" fmla="val 10714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647" y="470916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Software Engineering Students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527" y="51663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</a:t>
            </a:r>
            <a:endParaRPr lang="en-US" sz="2000" dirty="0"/>
          </a:p>
        </p:txBody>
      </p:sp>
      <p:sp>
        <p:nvSpPr>
          <p:cNvPr id="12" name="Text Box 11"/>
          <p:cNvSpPr txBox="1"/>
          <p:nvPr/>
        </p:nvSpPr>
        <p:spPr>
          <a:xfrm>
            <a:off x="731520" y="1854835"/>
            <a:ext cx="84016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sz="28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Algorithms &amp; Programming Review</a:t>
            </a:r>
            <a:endParaRPr lang="en-US" sz="2800" b="1" dirty="0">
              <a:solidFill>
                <a:srgbClr val="2463A6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pseudocode?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02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instructions for a solution.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C++ or Python syntax.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read, explain and revise.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before writing the actual program.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Significance of Algorithms: Bad Algorithm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03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5074920" cy="4160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Algorithm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Initialize sum to 0.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Loop from 1 to 10¹².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Add current i to sum.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Repeat for each i.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Return sum.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Stop.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4726940" cy="2812415"/>
          </a:xfrm>
          <a:prstGeom prst="roundRect">
            <a:avLst>
              <a:gd name="adj" fmla="val 2597"/>
            </a:avLst>
          </a:prstGeom>
          <a:solidFill>
            <a:srgbClr val="F0F5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2029968"/>
            <a:ext cx="4727448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Equivalent C++ program</a:t>
            </a:r>
            <a:endParaRPr lang="en-US" sz="1430" dirty="0"/>
          </a:p>
          <a:p>
            <a:pPr marL="0" indent="0">
              <a:buNone/>
            </a:pP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long int calculate_sum() {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long int sum = 0, i;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(i=1; i&lt;=1000000000000; i++) {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sum += i;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sum;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Counting Instructions in the Bad Algorithm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04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Algorithm</a:t>
            </a:r>
            <a:endParaRPr lang="en-US" sz="1800" b="1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Equivalent C++ program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long int calculate_sum()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sum = 0, i;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for (i=1; i&lt;=1000000000000; i++)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sum += i;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return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Instruction-count illustration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+ 1 + 10¹² × (1+1+1) + 1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loop iteration contributes three counted operations.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Instructions: Bad Algorithm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05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01495"/>
            <a:ext cx="5455285" cy="3676650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029968"/>
            <a:ext cx="10332720" cy="3867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instructions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+ 1 + 1,000,000,000,000 × (1 + 1 + 1) + 1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3,000,000,000,004 instructions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233160" y="1787525"/>
            <a:ext cx="5641340" cy="3690620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long int calculate_sum()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sum = 0, i;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for (i=1; i&lt;=1000000000000; i++)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sum += i;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return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dirty="0">
              <a:solidFill>
                <a:srgbClr val="10253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 Instruction Count to Time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01495"/>
            <a:ext cx="5862955" cy="4204970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030095"/>
            <a:ext cx="5556250" cy="408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100,000,000 instructions per second.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for y instructions = 1 second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for 1 instruction = 1/y seconds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for x instructions = x/y seconds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3,000,000,000,004 ÷ 100,000,000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30,000 seconds ≈ 500 minutes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684010" y="1787525"/>
            <a:ext cx="5304155" cy="4275455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long int calculate_sum()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sum = 0, i;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for (i=1; i&lt;=1000000000000; i++)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sum += i;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}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return sum;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2400" dirty="0">
              <a:solidFill>
                <a:srgbClr val="10253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Bad Algorithm: Total Execution Time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07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Algorithm</a:t>
            </a:r>
            <a:endParaRPr lang="en-US" sz="1800" b="1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1 to 10¹² using a loop.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addition for every integer.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result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30,000 seconds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500 minutes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8 hours 20 minutes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781685" y="2435860"/>
            <a:ext cx="5066030" cy="3532505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long int calculate_sum()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sum = 0, i;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for (i=1; i&lt;=1000000000000; i++)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sum += i;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return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dirty="0">
              <a:solidFill>
                <a:srgbClr val="10253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Significance of Algorithms: Good Algorithm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08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1856105"/>
            <a:ext cx="4184015" cy="232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Algorithm</a:t>
            </a:r>
            <a:endParaRPr lang="en-US" sz="1700" b="1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Set n = 10¹².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Calculate sum = n(n+1)/2.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Output sum.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Stop.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12080" cy="4224528"/>
          </a:xfrm>
          <a:prstGeom prst="roundRect">
            <a:avLst>
              <a:gd name="adj" fmla="val 2597"/>
            </a:avLst>
          </a:prstGeom>
          <a:solidFill>
            <a:srgbClr val="F0F5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2029968"/>
            <a:ext cx="4727448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Equivalent C++ program</a:t>
            </a: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long int calculate_sum()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long int n = 1000000000000;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long int sum;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sum = (n * (n + 1)) / 2;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sum;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000" dirty="0">
              <a:solidFill>
                <a:srgbClr val="10253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Algorithm: Instruction Count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09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01495"/>
            <a:ext cx="5784215" cy="3990340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030095"/>
            <a:ext cx="5918835" cy="3496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instructions = 2 + 4 + 1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7 instructions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100,000,000 instructions per second.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= 7 ÷ 100,000,000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0.00000007 seconds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492240" y="1801495"/>
            <a:ext cx="5212080" cy="3995420"/>
          </a:xfrm>
          <a:prstGeom prst="roundRect">
            <a:avLst>
              <a:gd name="adj" fmla="val 2597"/>
            </a:avLst>
          </a:prstGeom>
          <a:solidFill>
            <a:srgbClr val="F0F5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b="1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Equivalent C++ program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long int calculate_sum()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n = 1000000000000;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sum = (n * (n + 1)) / 2;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return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dirty="0">
              <a:solidFill>
                <a:srgbClr val="10253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Algorithm: Very Short Execution Time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Algorithm</a:t>
            </a:r>
            <a:endParaRPr lang="en-US" sz="1800" b="1" dirty="0">
              <a:solidFill>
                <a:srgbClr val="10253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b="1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Equivalent C++ program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long int calculate_sum()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n = 1000000000000;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long int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sum = (n * (n + 1)) / 2;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return sum;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5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total time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0.00000007 seconds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about 8 hours for the loop.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Decidable Problems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Finite 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7560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7852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Algorithm (decidable)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1316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608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Terminates with an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3272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764A6"/>
                </a:solidFill>
                <a:latin typeface="Aptos"/>
              </a:defRPr>
            </a:pPr>
            <a:r>
              <a:t>Original source associates decidability with polynomial time; this is not required by the definition.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Undecidable Problems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Finite 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7560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7852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Decision problem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1316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608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No guaranteed decider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3272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764A6"/>
                </a:solidFill>
                <a:latin typeface="Aptos"/>
              </a:defRPr>
            </a:pPr>
            <a:r>
              <a:t>Exponential time and undecidability are different concepts.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Polynomial vs. Exponential Time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5577840"/>
            <a:ext cx="877824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828800" y="2331720"/>
            <a:ext cx="0" cy="324612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52560" y="5715000"/>
            <a:ext cx="18288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122941"/>
                </a:solidFill>
                <a:latin typeface="Aptos"/>
              </a:defRPr>
            </a:pPr>
            <a:r>
              <a:t>Input size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82296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22941"/>
                </a:solidFill>
                <a:latin typeface="Aptos"/>
              </a:defRPr>
            </a:pPr>
            <a:r>
              <a:t>T(n)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65960" y="5193792"/>
            <a:ext cx="960120" cy="246888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26080" y="4892040"/>
            <a:ext cx="960120" cy="301752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86200" y="4645152"/>
            <a:ext cx="960120" cy="246888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46320" y="4443984"/>
            <a:ext cx="960120" cy="201168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806440" y="4297680"/>
            <a:ext cx="960120" cy="146304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66560" y="4187952"/>
            <a:ext cx="960120" cy="109728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26680" y="4096512"/>
            <a:ext cx="960120" cy="91440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86800" y="4014215"/>
            <a:ext cx="960120" cy="82297"/>
          </a:xfrm>
          <a:prstGeom prst="line">
            <a:avLst/>
          </a:prstGeom>
          <a:ln w="38100">
            <a:solidFill>
              <a:srgbClr val="276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65960" y="5477256"/>
            <a:ext cx="960120" cy="9144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26080" y="5440680"/>
            <a:ext cx="960120" cy="36576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86200" y="5285232"/>
            <a:ext cx="960120" cy="155448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46320" y="4937760"/>
            <a:ext cx="960120" cy="347472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06440" y="4251960"/>
            <a:ext cx="960120" cy="685800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66560" y="3401568"/>
            <a:ext cx="960120" cy="850392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26680" y="2514600"/>
            <a:ext cx="960120" cy="886968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86800" y="1810512"/>
            <a:ext cx="960120" cy="704088"/>
          </a:xfrm>
          <a:prstGeom prst="line">
            <a:avLst/>
          </a:prstGeom>
          <a:ln w="3810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63840" y="4114800"/>
            <a:ext cx="24688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2764A6"/>
                </a:solidFill>
                <a:latin typeface="Aptos"/>
              </a:defRPr>
            </a:pPr>
            <a:r>
              <a:t>Polynomial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828800"/>
            <a:ext cx="27432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ECA231"/>
                </a:solidFill>
                <a:latin typeface="Aptos"/>
              </a:defRPr>
            </a:pPr>
            <a:r>
              <a:t>Exponential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Nature of Exponential-Time Problems: n = 100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Input n = 100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7560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7852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Algorithm: 2ⁿ steps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1316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608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2¹⁰⁰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3272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764A6"/>
                </a:solidFill>
                <a:latin typeface="Aptos"/>
              </a:defRPr>
            </a:pPr>
            <a:r>
              <a:t>Increasing n by one doubles the number of operations.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Exponential-Time Example: Work per Year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15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10927080" cy="4352544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029968"/>
            <a:ext cx="10332720" cy="3867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 a computer executes 2²⁰ instructions per second.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in one year: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2²⁰ × 60 × 60 × 24 × 365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2⁴⁵ instructions per year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Exponential-Time Example: Years Needed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2⁴⁵ steps / year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7560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7852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2¹⁰⁰ total steps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13167" y="3401568"/>
            <a:ext cx="502920" cy="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6087" y="2880360"/>
            <a:ext cx="2834640" cy="105156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2⁵⁵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3272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764A6"/>
                </a:solidFill>
                <a:latin typeface="Aptos"/>
              </a:defRPr>
            </a:pPr>
            <a:r>
              <a:t>Illustrative estimate using the stated instruction rate.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Analysis of Algorithms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17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10927080" cy="4352544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029968"/>
            <a:ext cx="10332720" cy="3867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Study an algorithm’s performance based on time and memory-space consumption.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taking the least time and memory space is preferred.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ways to analyze an algorithm: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Priori Analysis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Posteriori Analysis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 vs. Posteriori Analysis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 Analysis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Estimation of time and memory before executing an algorithm.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Independent of programming language.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Independent of hardware.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Posteriori Analysis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Calculation of time and memory after executing an algorithm.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Dependent on programming language.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Dependent on hardware.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Importance of Algorithm Analysis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108960" cy="100584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Correct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331720"/>
            <a:ext cx="3108960" cy="100584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Compare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703320"/>
            <a:ext cx="3108960" cy="100584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2941"/>
                </a:solidFill>
              </a:defRPr>
            </a:pPr>
            <a:r>
              <a:t>Compare memory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886200" y="2834640"/>
            <a:ext cx="548640" cy="502920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200" y="3429000"/>
            <a:ext cx="548640" cy="758952"/>
          </a:xfrm>
          <a:prstGeom prst="line">
            <a:avLst/>
          </a:prstGeom>
          <a:ln w="31750">
            <a:solidFill>
              <a:srgbClr val="ECA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0" y="2880360"/>
            <a:ext cx="329184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2764A6"/>
                </a:solidFill>
                <a:latin typeface="Aptos"/>
              </a:defRPr>
            </a:pPr>
            <a:r>
              <a:t>Choose the approach that best fits the problem and constraints.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Finding the Key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6576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2764A6"/>
                </a:solidFill>
                <a:latin typeface="Aptos"/>
              </a:defRPr>
            </a:pPr>
            <a:r>
              <a:t>Approach 1: Linear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59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78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2788920"/>
            <a:ext cx="932688" cy="685800"/>
          </a:xfrm>
          <a:prstGeom prst="roundRect">
            <a:avLst/>
          </a:prstGeom>
          <a:solidFill>
            <a:srgbClr val="FFF2D6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2788920"/>
            <a:ext cx="932688" cy="685800"/>
          </a:xfrm>
          <a:prstGeom prst="roundRect">
            <a:avLst/>
          </a:prstGeom>
          <a:solidFill>
            <a:srgbClr val="EAF4FA"/>
          </a:solidFill>
          <a:ln>
            <a:solidFill>
              <a:srgbClr val="276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22941"/>
                </a:solidFill>
              </a:defRPr>
            </a:pPr>
            <a:r>
              <a:t>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49039"/>
            <a:ext cx="6400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2764A6"/>
                </a:solidFill>
                <a:latin typeface="Aptos"/>
              </a:defRPr>
            </a:pPr>
            <a:r>
              <a:t>Key = 90    •    7 comparisons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41148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2764A6"/>
                </a:solidFill>
                <a:latin typeface="Aptos"/>
              </a:defRPr>
            </a:pPr>
            <a:r>
              <a:t>Approach 2: Binary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617720"/>
            <a:ext cx="694944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0">
                <a:solidFill>
                  <a:srgbClr val="122941"/>
                </a:solidFill>
                <a:latin typeface="Aptos"/>
              </a:defRPr>
            </a:pPr>
            <a:r>
              <a:t>Repeatedly halve the sorted range to locate 90.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11887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5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Analysis of Algorithms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47120" cy="0"/>
          </a:xfrm>
          <a:prstGeom prst="line">
            <a:avLst/>
          </a:prstGeom>
          <a:noFill/>
          <a:ln w="12700">
            <a:solidFill>
              <a:srgbClr val="DDE8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863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the Key: 100 Integers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6373368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C7A"/>
                </a:solidFill>
              </a:rPr>
              <a:t>WEEK 07  •  ALGORITHM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601968"/>
            <a:ext cx="9144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C7A"/>
                </a:solidFill>
              </a:rPr>
              <a:t>Dr Hussain | Zhengzhou University | Software Engineering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84280" y="6601968"/>
            <a:ext cx="3200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22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10927080" cy="4352544"/>
          </a:xfrm>
          <a:prstGeom prst="roundRect">
            <a:avLst>
              <a:gd name="adj" fmla="val 2521"/>
            </a:avLst>
          </a:prstGeom>
          <a:solidFill>
            <a:srgbClr val="EAF3F9"/>
          </a:solidFill>
          <a:ln w="12700">
            <a:solidFill>
              <a:srgbClr val="D6E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029968"/>
            <a:ext cx="10332720" cy="3867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100 integers: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Search: 100 comparisons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Search: 7 comparisons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slide compares worst-case search counts for sorted data.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search: O(n)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search: O(log n)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symbols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25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752600" cy="1645901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Oval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/ 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38628" y="1746885"/>
            <a:ext cx="2185797" cy="1719061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67228" y="1948053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Parallelogram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967228" y="2460117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/ Output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685925" cy="1719073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0416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Rectangle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43403" y="3876677"/>
            <a:ext cx="2081022" cy="1783459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72002" y="4077846"/>
            <a:ext cx="558805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Diamond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072002" y="4589910"/>
            <a:ext cx="5588051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653" y="1591439"/>
            <a:ext cx="3695890" cy="470559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18" y="1662472"/>
            <a:ext cx="3257490" cy="31156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26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flowchart shape represents a decision?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Rectangle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Diamond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Oval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Arrow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Debugging: common beginner mistakes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27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array index.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loop update.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comparison operator.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an uninitialized variable.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the bug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28</a:t>
            </a:r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a[] = {2, 4, 6};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(int i=0; i&lt;=3; i++) 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cout &lt;&lt; a[i];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index is invalid?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you fix the condition?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we search?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29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elements one by one.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81928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0528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10528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Repeatedly halve a sorted range.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search example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30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16936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16936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16936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56632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56632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96328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96328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96328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36024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36024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36024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8587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(starts at 0)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7365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7: inspect 4 → 9 → 2 → 7.</a:t>
            </a:r>
            <a:endParaRPr lang="en-US" sz="2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31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linear search, which item is checked first?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Middle item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First item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Last item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Largest item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linear search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32</a:t>
            </a:r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a[]={4,9,2,7,5};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key=7;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for(int i=0;i&lt;5;i++){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if(a[i]==key)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cout &lt;&lt; i;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index is printed?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key is absent?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requires sorted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33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05594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305594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05594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33949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33949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33949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62303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62303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62303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90657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90657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90657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9011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9011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419011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947366" y="2148840"/>
            <a:ext cx="1469571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947366" y="2423160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947366" y="3291840"/>
            <a:ext cx="1469571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38587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(starts at 0)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7365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12 by comparing with the middle value and discarding half.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idea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34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Sorted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5983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0614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1586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middle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3445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9048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one half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0907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5538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510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to explain each step in your own words.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35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true before standard binary search?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Data is sorted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Data is random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Data has duplicates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Data is reversed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Sorting: put data in order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36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9, 2, 7, 4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81928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0528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10528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2, 4, 7, 9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sort: find the smallest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37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186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186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186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0110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0110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0110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8587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(starts at 0)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7365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pass: select 2 and move it to the first position.</a:t>
            </a:r>
            <a:endParaRPr lang="en-US" sz="2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sort: compare neighbors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38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186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186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186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01100" y="2148840"/>
            <a:ext cx="257175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01100" y="2423160"/>
            <a:ext cx="257175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01100" y="3291840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8587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(starts at 0)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7365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 9 and 2, then compare the next adjacent pair.</a:t>
            </a:r>
            <a:endParaRPr lang="en-US" sz="2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39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output is ascending order?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9,7,4,2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2,7,4,9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2,4,7,9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4,2,9,7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analyze algorithms?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40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work grows as input grows.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81928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0528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10528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memory is needed.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classroom practice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50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pseudocode to find the smallest of 3 numbers.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 loop that prints even numbers from 2 to 10.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6 in {3, 6, 1, 8}.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 sorted array helps binary search.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Take-home assignment (no project)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51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pseudocode for finding the maximum in a list.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the solution in C++.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with two different input lists.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how many elements your loop checks.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remember today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52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34747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 solution as steps.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53128" y="1783080"/>
            <a:ext cx="34747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81728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81728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steps into code.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0456" y="1783080"/>
            <a:ext cx="34747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49056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449056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time and memory.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07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and references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t>53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515600" cy="3840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Adapted from the reference materials supplied for this lecture: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and Analysis of Algorithms Tutorial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Structures – Algorithms Basics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Analysis of Algorithms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Structures – Asymptotic Analysis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Complexity and Space Complexities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Methodology of Analysis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11374</Words>
  <Application>WPS Presentation</Application>
  <PresentationFormat>Widescreen</PresentationFormat>
  <Paragraphs>933</Paragraphs>
  <Slides>41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61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 Display</vt:lpstr>
      <vt:lpstr>Segoe UI Variable Display</vt:lpstr>
      <vt:lpstr>Aptos Display</vt:lpstr>
      <vt:lpstr>Aptos Display</vt:lpstr>
      <vt:lpstr>Consolas</vt:lpstr>
      <vt:lpstr>Consolas</vt:lpstr>
      <vt:lpstr>Consolas</vt:lpstr>
      <vt:lpstr>Calibri</vt:lpstr>
      <vt:lpstr>Microsoft YaHei</vt:lpstr>
      <vt:lpstr>Arial Unicode MS</vt:lpstr>
      <vt:lpstr>Aptos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Programming Review</dc:title>
  <dc:creator>Dr Hussain</dc:creator>
  <dc:subject>Week 6 Algorithms and Programming Review</dc:subject>
  <cp:lastModifiedBy>Shabir Hussain</cp:lastModifiedBy>
  <cp:revision>55</cp:revision>
  <dcterms:created xsi:type="dcterms:W3CDTF">2026-10-10T13:15:00Z</dcterms:created>
  <dcterms:modified xsi:type="dcterms:W3CDTF">2026-10-25T18:56:22Z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7612DC4CBC22412EBCC76877E3732B5F_13</vt:lpwstr>
  </property>
  <property fmtid="{D5CDD505-2E9C-101B-9397-08002B2CF9AE}" pid="3" name="KSOProductBuildVer">
    <vt:lpwstr>1033-12.1.0.29162</vt:lpwstr>
  </property>
</Properties>
</file>